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Arimo" panose="020B0604020202020204"/>
      <p:regular r:id="rId17"/>
    </p:embeddedFont>
    <p:embeddedFont>
      <p:font typeface="Arimo Bold" panose="020B0704020202020204"/>
      <p:bold r:id="rId18"/>
    </p:embeddedFont>
    <p:embeddedFont>
      <p:font typeface="Noto Sans Bold" panose="020B0802040504020204"/>
      <p:bold r:id="rId19"/>
    </p:embeddedFont>
    <p:embeddedFont>
      <p:font typeface="Lato Heavy" panose="020F0502020204030203"/>
      <p:bold r:id="rId20"/>
    </p:embeddedFont>
    <p:embeddedFont>
      <p:font typeface="Noto Sans" panose="020B0502040504020204"/>
      <p:regular r:id="rId21"/>
      <p:bold r:id="rId22"/>
      <p:italic r:id="rId23"/>
      <p:boldItalic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ltLang="en-US"/>
              <a:t>Cảm ơn mọi ng</a:t>
            </a:r>
            <a:r>
              <a:rPr lang="" altLang="en-US"/>
              <a:t>ư</a:t>
            </a:r>
            <a:r>
              <a:rPr lang="en-US" altLang="en-US"/>
              <a:t>ời </a:t>
            </a:r>
            <a:r>
              <a:rPr lang="" altLang="en-US"/>
              <a:t>đ</a:t>
            </a:r>
            <a:r>
              <a:rPr lang="en-US" altLang="en-US"/>
              <a:t>ã dành thời gian tham dự buổi chia sẻ hôm nay. Trong những seminar tr</a:t>
            </a:r>
            <a:r>
              <a:rPr lang="" altLang="en-US"/>
              <a:t>ư</a:t>
            </a:r>
            <a:r>
              <a:rPr lang="en-US" altLang="en-US"/>
              <a:t>ớc, team DEV </a:t>
            </a:r>
            <a:r>
              <a:rPr lang="" altLang="en-US"/>
              <a:t>đ</a:t>
            </a:r>
            <a:r>
              <a:rPr lang="en-US" altLang="en-US"/>
              <a:t>ã cùng nhau tìm hiểu nhiều kỹ thuật và công nghệ mới. Còn hôm nay, em xin giới thiệu một web app mang tên Bill Master. Nó không gồm những công nghệ mới mẻ gì cả, nó chỉ là dùng AI và code python, em nghĩ đối với team DEV ai cũng có thể làm được</a:t>
            </a:r>
            <a:endParaRPr lang="en-US" alt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mtClean="0"/>
              <a:t>Vậy tại sao nó được ra đời? Bill Master được ra đời để giải quyết một tình huống </a:t>
            </a:r>
            <a:r>
              <a:rPr lang="en-US" altLang="en-US" smtClean="0"/>
              <a:t>khá quen thuộc là cả nhóm cùng </a:t>
            </a:r>
            <a:r>
              <a:rPr lang="" altLang="en-US" smtClean="0"/>
              <a:t>đ</a:t>
            </a:r>
            <a:r>
              <a:rPr lang="en-US" altLang="en-US" smtClean="0"/>
              <a:t>ặt </a:t>
            </a:r>
            <a:r>
              <a:rPr lang="" altLang="en-US" smtClean="0"/>
              <a:t>đ</a:t>
            </a:r>
            <a:r>
              <a:rPr lang="en-US" altLang="en-US" smtClean="0"/>
              <a:t>ồ </a:t>
            </a:r>
            <a:r>
              <a:rPr lang="" altLang="en-US" smtClean="0"/>
              <a:t>ă</a:t>
            </a:r>
            <a:r>
              <a:rPr lang="en-US" altLang="en-US" smtClean="0"/>
              <a:t>n, nh</a:t>
            </a:r>
            <a:r>
              <a:rPr lang="" altLang="en-US" smtClean="0"/>
              <a:t>ư</a:t>
            </a:r>
            <a:r>
              <a:rPr lang="en-US" altLang="en-US" smtClean="0"/>
              <a:t>ng sau khi thanh toán thì khó nhớ ai </a:t>
            </a:r>
            <a:r>
              <a:rPr lang="" altLang="en-US" smtClean="0"/>
              <a:t>đ</a:t>
            </a:r>
            <a:r>
              <a:rPr lang="en-US" altLang="en-US" smtClean="0"/>
              <a:t>ã gọi món nào, ai </a:t>
            </a:r>
            <a:r>
              <a:rPr lang="" altLang="en-US" smtClean="0"/>
              <a:t>đ</a:t>
            </a:r>
            <a:r>
              <a:rPr lang="en-US" altLang="en-US" smtClean="0"/>
              <a:t>ã gửi tiền.</a:t>
            </a:r>
            <a:endParaRPr lang="en-US" alt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đây em trình bày 5 bước quản lý hóa đơn</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Cảnh báo xuất hiện khi độ tin cậy thấp hoặc số món, subtotal, tổng tiền bị lệch. Không khẳng định AI luôn nhận đúng tên người. Mở ảnh gốc để đối chiếu món, số lượng và tiền; người tạo chịu trách nhiệm rà soát trước khi lưu.</a:t>
            </a:r>
            <a:endParaRPr lang="en-US"/>
          </a:p>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có chức năng add group để trả</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Lời nhắc nêu người ứng tiền; có thể kèm ngân hàng, số tài khoản và link xem đơn nếu đã cấu hình. Telegram hiện chỉ gửi khi người dùng bấm nút trong ứng dụng, chưa tự gửi theo lịch. Luồng minh họa mang nhãn Ví dụ và không dùng dữ liệu giao dịch thực.</a:t>
            </a:r>
            <a:endParaRPr lang="en-US"/>
          </a:p>
          <a:p>
            <a:r>
              <a:rPr lang="en-US"/>
              <a:t>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7" Type="http://schemas.openxmlformats.org/officeDocument/2006/relationships/notesSlide" Target="../notesSlides/notesSlide4.xml"/><Relationship Id="rId16" Type="http://schemas.openxmlformats.org/officeDocument/2006/relationships/slideLayout" Target="../slideLayouts/slideLayout7.xml"/><Relationship Id="rId15" Type="http://schemas.openxmlformats.org/officeDocument/2006/relationships/image" Target="../media/image19.png"/><Relationship Id="rId14" Type="http://schemas.openxmlformats.org/officeDocument/2006/relationships/image" Target="../media/image18.png"/><Relationship Id="rId13" Type="http://schemas.openxmlformats.org/officeDocument/2006/relationships/image" Target="../media/image17.png"/><Relationship Id="rId12" Type="http://schemas.openxmlformats.org/officeDocument/2006/relationships/image" Target="../media/image16.png"/><Relationship Id="rId11" Type="http://schemas.openxmlformats.org/officeDocument/2006/relationships/image" Target="../media/image15.png"/><Relationship Id="rId10" Type="http://schemas.openxmlformats.org/officeDocument/2006/relationships/image" Target="../media/image1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16628307" y="9846183"/>
            <a:ext cx="1609020" cy="384353"/>
            <a:chOff x="0" y="0"/>
            <a:chExt cx="2145360" cy="512470"/>
          </a:xfrm>
        </p:grpSpPr>
        <p:sp>
          <p:nvSpPr>
            <p:cNvPr id="3" name="Freeform 3" descr="preencoded.png">
              <a:hlinkClick r:id="rId1"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2"/>
              <a:stretch>
                <a:fillRect r="2" b="-4"/>
              </a:stretch>
            </a:blipFill>
          </p:spPr>
        </p:sp>
      </p:grpSp>
      <p:grpSp>
        <p:nvGrpSpPr>
          <p:cNvPr id="4" name="Group 4"/>
          <p:cNvGrpSpPr/>
          <p:nvPr/>
        </p:nvGrpSpPr>
        <p:grpSpPr>
          <a:xfrm rot="0">
            <a:off x="762581" y="1187091"/>
            <a:ext cx="10218525" cy="19069"/>
            <a:chOff x="0" y="0"/>
            <a:chExt cx="13624700" cy="25425"/>
          </a:xfrm>
        </p:grpSpPr>
        <p:sp>
          <p:nvSpPr>
            <p:cNvPr id="5" name="Freeform 5"/>
            <p:cNvSpPr/>
            <p:nvPr/>
          </p:nvSpPr>
          <p:spPr>
            <a:xfrm>
              <a:off x="0" y="0"/>
              <a:ext cx="13624688" cy="25400"/>
            </a:xfrm>
            <a:custGeom>
              <a:avLst/>
              <a:gdLst/>
              <a:ahLst/>
              <a:cxnLst/>
              <a:rect l="l" t="t" r="r" b="b"/>
              <a:pathLst>
                <a:path w="13624688" h="25400">
                  <a:moveTo>
                    <a:pt x="0" y="0"/>
                  </a:moveTo>
                  <a:lnTo>
                    <a:pt x="13624688" y="0"/>
                  </a:lnTo>
                  <a:lnTo>
                    <a:pt x="13624688" y="25400"/>
                  </a:lnTo>
                  <a:lnTo>
                    <a:pt x="0" y="25400"/>
                  </a:lnTo>
                  <a:close/>
                </a:path>
              </a:pathLst>
            </a:custGeom>
            <a:solidFill>
              <a:srgbClr val="D6DEEC">
                <a:alpha val="4706"/>
              </a:srgbClr>
            </a:solidFill>
          </p:spPr>
        </p:sp>
      </p:grpSp>
      <p:grpSp>
        <p:nvGrpSpPr>
          <p:cNvPr id="6" name="Group 6"/>
          <p:cNvGrpSpPr/>
          <p:nvPr/>
        </p:nvGrpSpPr>
        <p:grpSpPr>
          <a:xfrm rot="0">
            <a:off x="757809" y="757828"/>
            <a:ext cx="1756753" cy="357769"/>
            <a:chOff x="0" y="0"/>
            <a:chExt cx="2342337" cy="477025"/>
          </a:xfrm>
        </p:grpSpPr>
        <p:sp>
          <p:nvSpPr>
            <p:cNvPr id="7" name="Freeform 7"/>
            <p:cNvSpPr/>
            <p:nvPr/>
          </p:nvSpPr>
          <p:spPr>
            <a:xfrm>
              <a:off x="0" y="0"/>
              <a:ext cx="2342261" cy="477012"/>
            </a:xfrm>
            <a:custGeom>
              <a:avLst/>
              <a:gdLst/>
              <a:ahLst/>
              <a:cxnLst/>
              <a:rect l="l" t="t" r="r" b="b"/>
              <a:pathLst>
                <a:path w="2342261" h="477012">
                  <a:moveTo>
                    <a:pt x="0" y="126111"/>
                  </a:moveTo>
                  <a:cubicBezTo>
                    <a:pt x="0" y="56515"/>
                    <a:pt x="56515" y="0"/>
                    <a:pt x="126111" y="0"/>
                  </a:cubicBezTo>
                  <a:lnTo>
                    <a:pt x="2216150" y="0"/>
                  </a:lnTo>
                  <a:cubicBezTo>
                    <a:pt x="2285873" y="0"/>
                    <a:pt x="2342261" y="56515"/>
                    <a:pt x="2342261" y="126111"/>
                  </a:cubicBezTo>
                  <a:lnTo>
                    <a:pt x="2342261" y="350901"/>
                  </a:lnTo>
                  <a:cubicBezTo>
                    <a:pt x="2342261" y="420624"/>
                    <a:pt x="2285746" y="477012"/>
                    <a:pt x="2216150" y="477012"/>
                  </a:cubicBezTo>
                  <a:lnTo>
                    <a:pt x="126111" y="477012"/>
                  </a:lnTo>
                  <a:cubicBezTo>
                    <a:pt x="56515" y="477012"/>
                    <a:pt x="0" y="420497"/>
                    <a:pt x="0" y="350901"/>
                  </a:cubicBezTo>
                  <a:close/>
                </a:path>
              </a:pathLst>
            </a:custGeom>
            <a:blipFill>
              <a:blip r:embed="rId3">
                <a:alphaModFix amt="0"/>
              </a:blip>
              <a:stretch>
                <a:fillRect t="-45678" r="-3" b="-45681"/>
              </a:stretch>
            </a:blipFill>
            <a:ln w="9532" cap="sq">
              <a:solidFill>
                <a:srgbClr val="3D7BFF"/>
              </a:solidFill>
              <a:prstDash val="solid"/>
              <a:miter/>
            </a:ln>
          </p:spPr>
        </p:sp>
      </p:grpSp>
      <p:sp>
        <p:nvSpPr>
          <p:cNvPr id="8" name="TextBox 8"/>
          <p:cNvSpPr txBox="1"/>
          <p:nvPr/>
        </p:nvSpPr>
        <p:spPr>
          <a:xfrm>
            <a:off x="883072" y="801176"/>
            <a:ext cx="1569839"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BILL MASTER</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9" name="TextBox 9"/>
          <p:cNvSpPr txBox="1"/>
          <p:nvPr/>
        </p:nvSpPr>
        <p:spPr>
          <a:xfrm>
            <a:off x="762635" y="3693795"/>
            <a:ext cx="8387715" cy="1380490"/>
          </a:xfrm>
          <a:prstGeom prst="rect">
            <a:avLst/>
          </a:prstGeom>
        </p:spPr>
        <p:txBody>
          <a:bodyPr wrap="square" lIns="0" tIns="0" rIns="0" bIns="0" rtlCol="0" anchor="t">
            <a:spAutoFit/>
          </a:bodyPr>
          <a:lstStyle/>
          <a:p>
            <a:pPr algn="l">
              <a:lnSpc>
                <a:spcPts val="10765"/>
              </a:lnSpc>
            </a:pPr>
            <a:r>
              <a:rPr lang="en-US" sz="10810" b="1" spc="-216">
                <a:solidFill>
                  <a:srgbClr val="FFFFFF"/>
                </a:solidFill>
                <a:latin typeface="Arimo Bold" panose="020B0704020202020204"/>
                <a:ea typeface="Arimo Bold" panose="020B0704020202020204"/>
                <a:cs typeface="Arimo Bold" panose="020B0704020202020204"/>
                <a:sym typeface="Arimo Bold" panose="020B0704020202020204"/>
              </a:rPr>
              <a:t>Bill Master</a:t>
            </a:r>
            <a:endParaRPr lang="en-US" sz="10810" b="1" spc="-216">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770836" y="5143408"/>
            <a:ext cx="10218525" cy="533791"/>
          </a:xfrm>
          <a:prstGeom prst="rect">
            <a:avLst/>
          </a:prstGeom>
        </p:spPr>
        <p:txBody>
          <a:bodyPr lIns="0" tIns="0" rIns="0" bIns="0" rtlCol="0" anchor="t">
            <a:spAutoFit/>
          </a:bodyPr>
          <a:lstStyle/>
          <a:p>
            <a:pPr algn="l">
              <a:lnSpc>
                <a:spcPts val="3890"/>
              </a:lnSpc>
            </a:pPr>
            <a:r>
              <a:rPr lang="en-US" sz="3000">
                <a:solidFill>
                  <a:srgbClr val="F15F50"/>
                </a:solidFill>
                <a:latin typeface="Arimo" panose="020B0604020202020204"/>
                <a:ea typeface="Arimo" panose="020B0604020202020204"/>
                <a:cs typeface="Arimo" panose="020B0604020202020204"/>
                <a:sym typeface="Arimo" panose="020B0604020202020204"/>
              </a:rPr>
              <a:t>Quản lý đơn đồ ăn và công nợ nội bộ</a:t>
            </a:r>
            <a:endParaRPr lang="en-US" sz="3000">
              <a:solidFill>
                <a:srgbClr val="F15F50"/>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762581" y="9139799"/>
            <a:ext cx="10981106" cy="311412"/>
          </a:xfrm>
          <a:prstGeom prst="rect">
            <a:avLst/>
          </a:prstGeom>
        </p:spPr>
        <p:txBody>
          <a:bodyPr lIns="0" tIns="0" rIns="0" bIns="0" rtlCol="0" anchor="t">
            <a:spAutoFit/>
          </a:bodyPr>
          <a:lstStyle/>
          <a:p>
            <a:pPr algn="l">
              <a:lnSpc>
                <a:spcPts val="2335"/>
              </a:lnSpc>
            </a:pPr>
            <a:r>
              <a:rPr lang="en-US" sz="1800" spc="108">
                <a:solidFill>
                  <a:srgbClr val="9FB0CC"/>
                </a:solidFill>
                <a:latin typeface="Arimo" panose="020B0604020202020204"/>
                <a:ea typeface="Arimo" panose="020B0604020202020204"/>
                <a:cs typeface="Arimo" panose="020B0604020202020204"/>
                <a:sym typeface="Arimo" panose="020B0604020202020204"/>
              </a:rPr>
              <a:t>ĐỌC BILL · CHIA MÓN · THEO DÕI CÔNG NỢ</a:t>
            </a:r>
            <a:endParaRPr lang="en-US" sz="1800" spc="108">
              <a:solidFill>
                <a:srgbClr val="9FB0CC"/>
              </a:solidFill>
              <a:latin typeface="Arimo" panose="020B0604020202020204"/>
              <a:ea typeface="Arimo" panose="020B0604020202020204"/>
              <a:cs typeface="Arimo" panose="020B0604020202020204"/>
              <a:sym typeface="Arimo" panose="020B0604020202020204"/>
            </a:endParaRPr>
          </a:p>
        </p:txBody>
      </p:sp>
      <p:grpSp>
        <p:nvGrpSpPr>
          <p:cNvPr id="12" name="Group 12"/>
          <p:cNvGrpSpPr/>
          <p:nvPr/>
        </p:nvGrpSpPr>
        <p:grpSpPr>
          <a:xfrm rot="0">
            <a:off x="11743677" y="0"/>
            <a:ext cx="6558163" cy="10295039"/>
            <a:chOff x="0" y="0"/>
            <a:chExt cx="8744217" cy="13726719"/>
          </a:xfrm>
        </p:grpSpPr>
        <p:sp>
          <p:nvSpPr>
            <p:cNvPr id="13" name="Freeform 13" descr="preencoded.png"/>
            <p:cNvSpPr/>
            <p:nvPr/>
          </p:nvSpPr>
          <p:spPr>
            <a:xfrm>
              <a:off x="0" y="0"/>
              <a:ext cx="8744204" cy="13726668"/>
            </a:xfrm>
            <a:custGeom>
              <a:avLst/>
              <a:gdLst/>
              <a:ahLst/>
              <a:cxnLst/>
              <a:rect l="l" t="t" r="r" b="b"/>
              <a:pathLst>
                <a:path w="8744204" h="13726668">
                  <a:moveTo>
                    <a:pt x="0" y="0"/>
                  </a:moveTo>
                  <a:lnTo>
                    <a:pt x="8744204" y="0"/>
                  </a:lnTo>
                  <a:lnTo>
                    <a:pt x="8744204" y="13726668"/>
                  </a:lnTo>
                  <a:lnTo>
                    <a:pt x="0" y="13726668"/>
                  </a:lnTo>
                  <a:lnTo>
                    <a:pt x="0" y="0"/>
                  </a:lnTo>
                  <a:close/>
                </a:path>
              </a:pathLst>
            </a:custGeom>
            <a:blipFill>
              <a:blip r:embed="rId4"/>
              <a:stretch>
                <a:fillRect l="-37" r="-37"/>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919858" y="757828"/>
            <a:ext cx="1935490" cy="357769"/>
            <a:chOff x="0" y="0"/>
            <a:chExt cx="2580653" cy="477025"/>
          </a:xfrm>
        </p:grpSpPr>
        <p:sp>
          <p:nvSpPr>
            <p:cNvPr id="5" name="Freeform 5"/>
            <p:cNvSpPr/>
            <p:nvPr/>
          </p:nvSpPr>
          <p:spPr>
            <a:xfrm>
              <a:off x="0" y="0"/>
              <a:ext cx="2580640" cy="477012"/>
            </a:xfrm>
            <a:custGeom>
              <a:avLst/>
              <a:gdLst/>
              <a:ahLst/>
              <a:cxnLst/>
              <a:rect l="l" t="t" r="r" b="b"/>
              <a:pathLst>
                <a:path w="2580640" h="477012">
                  <a:moveTo>
                    <a:pt x="0" y="126111"/>
                  </a:moveTo>
                  <a:cubicBezTo>
                    <a:pt x="0" y="56515"/>
                    <a:pt x="56515" y="0"/>
                    <a:pt x="126111" y="0"/>
                  </a:cubicBezTo>
                  <a:lnTo>
                    <a:pt x="2454529" y="0"/>
                  </a:lnTo>
                  <a:cubicBezTo>
                    <a:pt x="2524252" y="0"/>
                    <a:pt x="2580640" y="56515"/>
                    <a:pt x="2580640" y="126111"/>
                  </a:cubicBezTo>
                  <a:lnTo>
                    <a:pt x="2580640" y="350901"/>
                  </a:lnTo>
                  <a:cubicBezTo>
                    <a:pt x="2580640" y="420624"/>
                    <a:pt x="2524125" y="477012"/>
                    <a:pt x="2454529" y="477012"/>
                  </a:cubicBezTo>
                  <a:lnTo>
                    <a:pt x="126111" y="477012"/>
                  </a:lnTo>
                  <a:cubicBezTo>
                    <a:pt x="56515" y="477012"/>
                    <a:pt x="0" y="420497"/>
                    <a:pt x="0" y="350901"/>
                  </a:cubicBezTo>
                  <a:close/>
                </a:path>
              </a:pathLst>
            </a:custGeom>
            <a:blipFill>
              <a:blip r:embed="rId1">
                <a:alphaModFix amt="0"/>
              </a:blip>
              <a:stretch>
                <a:fillRect t="-55413" b="-55416"/>
              </a:stretch>
            </a:blipFill>
            <a:ln w="9532" cap="sq">
              <a:solidFill>
                <a:srgbClr val="3D7BFF"/>
              </a:solidFill>
              <a:prstDash val="solid"/>
              <a:miter/>
            </a:ln>
          </p:spPr>
        </p:sp>
      </p:grpSp>
      <p:sp>
        <p:nvSpPr>
          <p:cNvPr id="6" name="TextBox 6"/>
          <p:cNvSpPr txBox="1"/>
          <p:nvPr/>
        </p:nvSpPr>
        <p:spPr>
          <a:xfrm>
            <a:off x="1045121" y="801176"/>
            <a:ext cx="1735187"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VÌ SAO RA ĐỜI</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762581" y="2179244"/>
            <a:ext cx="8971533" cy="2167052"/>
          </a:xfrm>
          <a:prstGeom prst="rect">
            <a:avLst/>
          </a:prstGeom>
        </p:spPr>
        <p:txBody>
          <a:bodyPr lIns="0" tIns="0" rIns="0" bIns="0" rtlCol="0" anchor="t">
            <a:spAutoFit/>
          </a:bodyPr>
          <a:lstStyle/>
          <a:p>
            <a:pPr algn="l">
              <a:lnSpc>
                <a:spcPts val="8445"/>
              </a:lnSpc>
            </a:pPr>
            <a:r>
              <a:rPr lang="en-US" sz="7820" b="1" spc="-156">
                <a:solidFill>
                  <a:srgbClr val="FFFFFF"/>
                </a:solidFill>
                <a:latin typeface="Noto Sans Bold" panose="020B0802040504020204"/>
                <a:ea typeface="Noto Sans Bold" panose="020B0802040504020204"/>
                <a:cs typeface="Noto Sans Bold" panose="020B0802040504020204"/>
                <a:sym typeface="Noto Sans Bold" panose="020B0802040504020204"/>
              </a:rPr>
              <a:t>Tại sao </a:t>
            </a:r>
            <a:r>
              <a:rPr lang="en-US" sz="7820" b="1" spc="-156">
                <a:solidFill>
                  <a:srgbClr val="F15F50"/>
                </a:solidFill>
                <a:latin typeface="Noto Sans Bold" panose="020B0802040504020204"/>
                <a:ea typeface="Noto Sans Bold" panose="020B0802040504020204"/>
                <a:cs typeface="Noto Sans Bold" panose="020B0802040504020204"/>
                <a:sym typeface="Noto Sans Bold" panose="020B0802040504020204"/>
              </a:rPr>
              <a:t>Bill Master</a:t>
            </a:r>
            <a:r>
              <a:rPr lang="en-US" sz="7820" b="1" spc="-156">
                <a:solidFill>
                  <a:srgbClr val="FFFFFF"/>
                </a:solidFill>
                <a:latin typeface="Noto Sans Bold" panose="020B0802040504020204"/>
                <a:ea typeface="Noto Sans Bold" panose="020B0802040504020204"/>
                <a:cs typeface="Noto Sans Bold" panose="020B0802040504020204"/>
                <a:sym typeface="Noto Sans Bold" panose="020B0802040504020204"/>
              </a:rPr>
              <a:t> được ra đời</a:t>
            </a:r>
            <a:endParaRPr lang="en-US" sz="7820" b="1" spc="-156">
              <a:solidFill>
                <a:srgbClr val="FFFFFF"/>
              </a:solidFill>
              <a:latin typeface="Noto Sans Bold" panose="020B0802040504020204"/>
              <a:ea typeface="Noto Sans Bold" panose="020B0802040504020204"/>
              <a:cs typeface="Noto Sans Bold" panose="020B0802040504020204"/>
              <a:sym typeface="Noto Sans Bold" panose="020B0802040504020204"/>
            </a:endParaRPr>
          </a:p>
        </p:txBody>
      </p:sp>
      <p:sp>
        <p:nvSpPr>
          <p:cNvPr id="8" name="TextBox 8"/>
          <p:cNvSpPr txBox="1"/>
          <p:nvPr/>
        </p:nvSpPr>
        <p:spPr>
          <a:xfrm>
            <a:off x="762581" y="5633866"/>
            <a:ext cx="9519399" cy="1580255"/>
          </a:xfrm>
          <a:prstGeom prst="rect">
            <a:avLst/>
          </a:prstGeom>
        </p:spPr>
        <p:txBody>
          <a:bodyPr lIns="0" tIns="0" rIns="0" bIns="0" rtlCol="0" anchor="t">
            <a:spAutoFit/>
          </a:bodyPr>
          <a:lstStyle/>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Cả nhóm đặt đồ ăn chung</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Một người ứng tiền trả trước</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Sau đó không nhớ ai gọi món gì, ai đã thanh toán</a:t>
            </a:r>
            <a:endParaRPr lang="en-US" sz="2550">
              <a:solidFill>
                <a:srgbClr val="D6DEEC"/>
              </a:solidFill>
              <a:latin typeface="Arimo" panose="020B0604020202020204"/>
              <a:ea typeface="Arimo" panose="020B0604020202020204"/>
              <a:cs typeface="Arimo" panose="020B0604020202020204"/>
              <a:sym typeface="Arimo" panose="020B0604020202020204"/>
            </a:endParaRPr>
          </a:p>
        </p:txBody>
      </p:sp>
      <p:grpSp>
        <p:nvGrpSpPr>
          <p:cNvPr id="9" name="Group 9"/>
          <p:cNvGrpSpPr/>
          <p:nvPr/>
        </p:nvGrpSpPr>
        <p:grpSpPr>
          <a:xfrm rot="0">
            <a:off x="10674350" y="1358900"/>
            <a:ext cx="7248525" cy="8462645"/>
            <a:chOff x="0" y="0"/>
            <a:chExt cx="9066327" cy="10459872"/>
          </a:xfrm>
        </p:grpSpPr>
        <p:sp>
          <p:nvSpPr>
            <p:cNvPr id="10" name="Freeform 10" descr="preencoded.png"/>
            <p:cNvSpPr/>
            <p:nvPr/>
          </p:nvSpPr>
          <p:spPr>
            <a:xfrm>
              <a:off x="0" y="0"/>
              <a:ext cx="9066276" cy="10459847"/>
            </a:xfrm>
            <a:custGeom>
              <a:avLst/>
              <a:gdLst/>
              <a:ahLst/>
              <a:cxnLst/>
              <a:rect l="l" t="t" r="r" b="b"/>
              <a:pathLst>
                <a:path w="9066276" h="10459847">
                  <a:moveTo>
                    <a:pt x="0" y="0"/>
                  </a:moveTo>
                  <a:lnTo>
                    <a:pt x="9066276" y="0"/>
                  </a:lnTo>
                  <a:lnTo>
                    <a:pt x="9066276" y="10459847"/>
                  </a:lnTo>
                  <a:lnTo>
                    <a:pt x="0" y="10459847"/>
                  </a:lnTo>
                  <a:lnTo>
                    <a:pt x="0" y="0"/>
                  </a:lnTo>
                  <a:close/>
                </a:path>
              </a:pathLst>
            </a:custGeom>
            <a:blipFill>
              <a:blip r:embed="rId2"/>
              <a:stretch>
                <a:fillRect l="-14" r="-15"/>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3806180" cy="357769"/>
            <a:chOff x="0" y="0"/>
            <a:chExt cx="5074907" cy="477025"/>
          </a:xfrm>
        </p:grpSpPr>
        <p:sp>
          <p:nvSpPr>
            <p:cNvPr id="5" name="Freeform 5"/>
            <p:cNvSpPr/>
            <p:nvPr/>
          </p:nvSpPr>
          <p:spPr>
            <a:xfrm>
              <a:off x="0" y="0"/>
              <a:ext cx="5074920" cy="477012"/>
            </a:xfrm>
            <a:custGeom>
              <a:avLst/>
              <a:gdLst/>
              <a:ahLst/>
              <a:cxnLst/>
              <a:rect l="l" t="t" r="r" b="b"/>
              <a:pathLst>
                <a:path w="5074920" h="477012">
                  <a:moveTo>
                    <a:pt x="0" y="126111"/>
                  </a:moveTo>
                  <a:cubicBezTo>
                    <a:pt x="0" y="56515"/>
                    <a:pt x="56515" y="0"/>
                    <a:pt x="126111" y="0"/>
                  </a:cubicBezTo>
                  <a:lnTo>
                    <a:pt x="4948809" y="0"/>
                  </a:lnTo>
                  <a:cubicBezTo>
                    <a:pt x="5018532" y="0"/>
                    <a:pt x="5074920" y="56515"/>
                    <a:pt x="5074920" y="126111"/>
                  </a:cubicBezTo>
                  <a:lnTo>
                    <a:pt x="5074920" y="350901"/>
                  </a:lnTo>
                  <a:cubicBezTo>
                    <a:pt x="5074920" y="420624"/>
                    <a:pt x="5018405" y="477012"/>
                    <a:pt x="4948809" y="477012"/>
                  </a:cubicBezTo>
                  <a:lnTo>
                    <a:pt x="126111" y="477012"/>
                  </a:lnTo>
                  <a:cubicBezTo>
                    <a:pt x="56515" y="477012"/>
                    <a:pt x="0" y="420497"/>
                    <a:pt x="0" y="350901"/>
                  </a:cubicBezTo>
                  <a:close/>
                </a:path>
              </a:pathLst>
            </a:custGeom>
            <a:blipFill>
              <a:blip r:embed="rId1">
                <a:alphaModFix amt="0"/>
              </a:blip>
              <a:stretch>
                <a:fillRect t="-157299" b="-157301"/>
              </a:stretch>
            </a:blipFill>
            <a:ln w="9532" cap="sq">
              <a:solidFill>
                <a:srgbClr val="3D7BFF"/>
              </a:solidFill>
              <a:prstDash val="solid"/>
              <a:miter/>
            </a:ln>
          </p:spPr>
        </p:sp>
      </p:grpSp>
      <p:sp>
        <p:nvSpPr>
          <p:cNvPr id="6" name="TextBox 6"/>
          <p:cNvSpPr txBox="1"/>
          <p:nvPr/>
        </p:nvSpPr>
        <p:spPr>
          <a:xfrm>
            <a:off x="883072" y="801176"/>
            <a:ext cx="3633043"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VẤN ĐỀ TRONG MỘT HÓA ĐƠN</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762422" y="5905358"/>
            <a:ext cx="8045186" cy="2919551"/>
          </a:xfrm>
          <a:prstGeom prst="rect">
            <a:avLst/>
          </a:prstGeom>
        </p:spPr>
        <p:txBody>
          <a:bodyPr lIns="0" tIns="0" rIns="0" bIns="0" rtlCol="0" anchor="t">
            <a:spAutoFit/>
          </a:bodyPr>
          <a:lstStyle/>
          <a:p>
            <a:pPr marL="498475" lvl="1" indent="-248920" algn="just">
              <a:lnSpc>
                <a:spcPts val="3865"/>
              </a:lnSpc>
              <a:buFont typeface="Arial" panose="020B0604020202020204"/>
              <a:buChar char="•"/>
            </a:pPr>
            <a:r>
              <a:rPr lang="en-US" sz="2750">
                <a:solidFill>
                  <a:srgbClr val="D6DEEC"/>
                </a:solidFill>
                <a:latin typeface="Arimo" panose="020B0604020202020204"/>
                <a:ea typeface="Arimo" panose="020B0604020202020204"/>
                <a:cs typeface="Arimo" panose="020B0604020202020204"/>
                <a:sym typeface="Arimo" panose="020B0604020202020204"/>
              </a:rPr>
              <a:t>Không rõ món nào thuộc về ai</a:t>
            </a:r>
            <a:endParaRPr lang="en-US" sz="2750">
              <a:solidFill>
                <a:srgbClr val="D6DEEC"/>
              </a:solidFill>
              <a:latin typeface="Arimo" panose="020B0604020202020204"/>
              <a:ea typeface="Arimo" panose="020B0604020202020204"/>
              <a:cs typeface="Arimo" panose="020B0604020202020204"/>
              <a:sym typeface="Arimo" panose="020B0604020202020204"/>
            </a:endParaRPr>
          </a:p>
          <a:p>
            <a:pPr marL="498475" lvl="1" indent="-248920" algn="just">
              <a:lnSpc>
                <a:spcPts val="3865"/>
              </a:lnSpc>
              <a:buFont typeface="Arial" panose="020B0604020202020204"/>
              <a:buChar char="•"/>
            </a:pPr>
            <a:r>
              <a:rPr lang="en-US" sz="2750">
                <a:solidFill>
                  <a:srgbClr val="D6DEEC"/>
                </a:solidFill>
                <a:latin typeface="Arimo" panose="020B0604020202020204"/>
                <a:ea typeface="Arimo" panose="020B0604020202020204"/>
                <a:cs typeface="Arimo" panose="020B0604020202020204"/>
                <a:sym typeface="Arimo" panose="020B0604020202020204"/>
              </a:rPr>
              <a:t>Một món số lượng nhiều có thể do một người đặt hay nhiều người mỗi người một phần</a:t>
            </a:r>
            <a:endParaRPr lang="en-US" sz="2750">
              <a:solidFill>
                <a:srgbClr val="D6DEEC"/>
              </a:solidFill>
              <a:latin typeface="Arimo" panose="020B0604020202020204"/>
              <a:ea typeface="Arimo" panose="020B0604020202020204"/>
              <a:cs typeface="Arimo" panose="020B0604020202020204"/>
              <a:sym typeface="Arimo" panose="020B0604020202020204"/>
            </a:endParaRPr>
          </a:p>
          <a:p>
            <a:pPr marL="498475" lvl="1" indent="-248920" algn="just">
              <a:lnSpc>
                <a:spcPts val="3865"/>
              </a:lnSpc>
              <a:buFont typeface="Arial" panose="020B0604020202020204"/>
              <a:buChar char="•"/>
            </a:pPr>
            <a:r>
              <a:rPr lang="en-US" sz="2750">
                <a:solidFill>
                  <a:srgbClr val="D6DEEC"/>
                </a:solidFill>
                <a:latin typeface="Arimo" panose="020B0604020202020204"/>
                <a:ea typeface="Arimo" panose="020B0604020202020204"/>
                <a:cs typeface="Arimo" panose="020B0604020202020204"/>
                <a:sym typeface="Arimo" panose="020B0604020202020204"/>
              </a:rPr>
              <a:t>Phí giao hàng, giảm giá và khoản chung dễ tính nhầm.</a:t>
            </a:r>
            <a:endParaRPr lang="en-US" sz="2750">
              <a:solidFill>
                <a:srgbClr val="D6DEEC"/>
              </a:solidFill>
              <a:latin typeface="Arimo" panose="020B0604020202020204"/>
              <a:ea typeface="Arimo" panose="020B0604020202020204"/>
              <a:cs typeface="Arimo" panose="020B0604020202020204"/>
              <a:sym typeface="Arimo" panose="020B0604020202020204"/>
            </a:endParaRPr>
          </a:p>
          <a:p>
            <a:pPr marL="498475" lvl="1" indent="-248920" algn="just">
              <a:lnSpc>
                <a:spcPts val="3865"/>
              </a:lnSpc>
              <a:buFont typeface="Arial" panose="020B0604020202020204"/>
              <a:buChar char="•"/>
            </a:pPr>
            <a:r>
              <a:rPr lang="en-US" sz="2750">
                <a:solidFill>
                  <a:srgbClr val="D6DEEC"/>
                </a:solidFill>
                <a:latin typeface="Arimo" panose="020B0604020202020204"/>
                <a:ea typeface="Arimo" panose="020B0604020202020204"/>
                <a:cs typeface="Arimo" panose="020B0604020202020204"/>
                <a:sym typeface="Arimo" panose="020B0604020202020204"/>
              </a:rPr>
              <a:t>Trả tiền rồi vẫn phải nhớ ai đã trả, ai còn nợ.</a:t>
            </a:r>
            <a:endParaRPr lang="en-US" sz="2750">
              <a:solidFill>
                <a:srgbClr val="D6DEEC"/>
              </a:solidFill>
              <a:latin typeface="Arimo" panose="020B0604020202020204"/>
              <a:ea typeface="Arimo" panose="020B0604020202020204"/>
              <a:cs typeface="Arimo" panose="020B0604020202020204"/>
              <a:sym typeface="Arimo" panose="020B0604020202020204"/>
            </a:endParaRPr>
          </a:p>
        </p:txBody>
      </p:sp>
      <p:grpSp>
        <p:nvGrpSpPr>
          <p:cNvPr id="8" name="Group 8"/>
          <p:cNvGrpSpPr/>
          <p:nvPr/>
        </p:nvGrpSpPr>
        <p:grpSpPr>
          <a:xfrm rot="0">
            <a:off x="12501343" y="4500505"/>
            <a:ext cx="2030359" cy="3218097"/>
            <a:chOff x="0" y="0"/>
            <a:chExt cx="2707145" cy="4290797"/>
          </a:xfrm>
        </p:grpSpPr>
        <p:sp>
          <p:nvSpPr>
            <p:cNvPr id="9" name="Freeform 9" descr="preencoded.png"/>
            <p:cNvSpPr/>
            <p:nvPr/>
          </p:nvSpPr>
          <p:spPr>
            <a:xfrm>
              <a:off x="0" y="0"/>
              <a:ext cx="2707132" cy="4290822"/>
            </a:xfrm>
            <a:custGeom>
              <a:avLst/>
              <a:gdLst/>
              <a:ahLst/>
              <a:cxnLst/>
              <a:rect l="l" t="t" r="r" b="b"/>
              <a:pathLst>
                <a:path w="2707132" h="4290822">
                  <a:moveTo>
                    <a:pt x="0" y="0"/>
                  </a:moveTo>
                  <a:lnTo>
                    <a:pt x="2707132" y="0"/>
                  </a:lnTo>
                  <a:lnTo>
                    <a:pt x="2707132" y="4290822"/>
                  </a:lnTo>
                  <a:lnTo>
                    <a:pt x="0" y="4290822"/>
                  </a:lnTo>
                  <a:lnTo>
                    <a:pt x="0" y="0"/>
                  </a:lnTo>
                  <a:close/>
                </a:path>
              </a:pathLst>
            </a:custGeom>
            <a:blipFill>
              <a:blip r:embed="rId2"/>
              <a:stretch>
                <a:fillRect t="-206" b="-206"/>
              </a:stretch>
            </a:blipFill>
          </p:spPr>
        </p:sp>
      </p:grpSp>
      <p:sp>
        <p:nvSpPr>
          <p:cNvPr id="10" name="TextBox 10"/>
          <p:cNvSpPr txBox="1"/>
          <p:nvPr/>
        </p:nvSpPr>
        <p:spPr>
          <a:xfrm>
            <a:off x="11380708" y="2987573"/>
            <a:ext cx="4386605" cy="602285"/>
          </a:xfrm>
          <a:prstGeom prst="rect">
            <a:avLst/>
          </a:prstGeom>
        </p:spPr>
        <p:txBody>
          <a:bodyPr lIns="0" tIns="0" rIns="0" bIns="0" rtlCol="0" anchor="t">
            <a:spAutoFit/>
          </a:bodyPr>
          <a:lstStyle/>
          <a:p>
            <a:pPr algn="ctr">
              <a:lnSpc>
                <a:spcPts val="4280"/>
              </a:lnSpc>
            </a:pPr>
            <a:r>
              <a:rPr lang="en-US" sz="3300">
                <a:solidFill>
                  <a:srgbClr val="FFFFFF"/>
                </a:solidFill>
                <a:latin typeface="Arimo" panose="020B0604020202020204"/>
                <a:ea typeface="Arimo" panose="020B0604020202020204"/>
                <a:cs typeface="Arimo" panose="020B0604020202020204"/>
                <a:sym typeface="Arimo" panose="020B0604020202020204"/>
              </a:rPr>
              <a:t>Món của ai?</a:t>
            </a:r>
            <a:endParaRPr lang="en-US" sz="3300">
              <a:solidFill>
                <a:srgbClr val="FFFFFF"/>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9677324" y="5371865"/>
            <a:ext cx="2586057" cy="939803"/>
          </a:xfrm>
          <a:prstGeom prst="rect">
            <a:avLst/>
          </a:prstGeom>
        </p:spPr>
        <p:txBody>
          <a:bodyPr lIns="0" tIns="0" rIns="0" bIns="0" rtlCol="0" anchor="t">
            <a:spAutoFit/>
          </a:bodyPr>
          <a:lstStyle/>
          <a:p>
            <a:pPr algn="ctr">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Mỗi người</a:t>
            </a:r>
            <a:endParaRPr lang="en-US" sz="2700">
              <a:solidFill>
                <a:srgbClr val="FFFFFF"/>
              </a:solidFill>
              <a:latin typeface="Arimo" panose="020B0604020202020204"/>
              <a:ea typeface="Arimo" panose="020B0604020202020204"/>
              <a:cs typeface="Arimo" panose="020B0604020202020204"/>
              <a:sym typeface="Arimo" panose="020B0604020202020204"/>
            </a:endParaRPr>
          </a:p>
          <a:p>
            <a:pPr algn="ctr">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bao nhiêu?</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2" name="TextBox 12"/>
          <p:cNvSpPr txBox="1"/>
          <p:nvPr/>
        </p:nvSpPr>
        <p:spPr>
          <a:xfrm>
            <a:off x="14859070" y="5594750"/>
            <a:ext cx="2509504" cy="493709"/>
          </a:xfrm>
          <a:prstGeom prst="rect">
            <a:avLst/>
          </a:prstGeom>
        </p:spPr>
        <p:txBody>
          <a:bodyPr lIns="0" tIns="0" rIns="0" bIns="0" rtlCol="0" anchor="t">
            <a:spAutoFit/>
          </a:bodyPr>
          <a:lstStyle/>
          <a:p>
            <a:pPr algn="ctr">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Ai đã trả?</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3" name="TextBox 13"/>
          <p:cNvSpPr txBox="1"/>
          <p:nvPr/>
        </p:nvSpPr>
        <p:spPr>
          <a:xfrm>
            <a:off x="883072" y="1869051"/>
            <a:ext cx="5909947" cy="2316234"/>
          </a:xfrm>
          <a:prstGeom prst="rect">
            <a:avLst/>
          </a:prstGeom>
        </p:spPr>
        <p:txBody>
          <a:bodyPr lIns="0" tIns="0" rIns="0" bIns="0" rtlCol="0" anchor="t">
            <a:spAutoFit/>
          </a:bodyPr>
          <a:lstStyle/>
          <a:p>
            <a:pPr algn="l">
              <a:lnSpc>
                <a:spcPts val="9000"/>
              </a:lnSpc>
            </a:pPr>
            <a:r>
              <a:rPr lang="en-US" sz="7820" b="1">
                <a:solidFill>
                  <a:srgbClr val="F8F8F8"/>
                </a:solidFill>
                <a:latin typeface="Arimo Bold" panose="020B0704020202020204"/>
                <a:ea typeface="Arimo Bold" panose="020B0704020202020204"/>
                <a:cs typeface="Arimo Bold" panose="020B0704020202020204"/>
                <a:sym typeface="Arimo Bold" panose="020B0704020202020204"/>
              </a:rPr>
              <a:t>Những</a:t>
            </a:r>
            <a:endParaRPr lang="en-US" sz="7820" b="1">
              <a:solidFill>
                <a:srgbClr val="F8F8F8"/>
              </a:solidFill>
              <a:latin typeface="Arimo Bold" panose="020B0704020202020204"/>
              <a:ea typeface="Arimo Bold" panose="020B0704020202020204"/>
              <a:cs typeface="Arimo Bold" panose="020B0704020202020204"/>
              <a:sym typeface="Arimo Bold" panose="020B0704020202020204"/>
            </a:endParaRPr>
          </a:p>
          <a:p>
            <a:pPr algn="l">
              <a:lnSpc>
                <a:spcPts val="9000"/>
              </a:lnSpc>
            </a:pPr>
            <a:r>
              <a:rPr lang="en-US" sz="7820" b="1">
                <a:solidFill>
                  <a:srgbClr val="F8F8F8"/>
                </a:solidFill>
                <a:latin typeface="Arimo Bold" panose="020B0704020202020204"/>
                <a:ea typeface="Arimo Bold" panose="020B0704020202020204"/>
                <a:cs typeface="Arimo Bold" panose="020B0704020202020204"/>
                <a:sym typeface="Arimo Bold" panose="020B0704020202020204"/>
              </a:rPr>
              <a:t>Vướng Mắc</a:t>
            </a:r>
            <a:endParaRPr lang="en-US" sz="7820" b="1">
              <a:solidFill>
                <a:srgbClr val="F8F8F8"/>
              </a:solidFill>
              <a:latin typeface="Arimo Bold" panose="020B0704020202020204"/>
              <a:ea typeface="Arimo Bold" panose="020B0704020202020204"/>
              <a:cs typeface="Arimo Bold" panose="020B0704020202020204"/>
              <a:sym typeface="Arimo Bold" panose="020B0704020202020204"/>
            </a:endParaRPr>
          </a:p>
        </p:txBody>
      </p:sp>
      <p:sp>
        <p:nvSpPr>
          <p:cNvPr id="14" name="TextBox 14"/>
          <p:cNvSpPr txBox="1"/>
          <p:nvPr/>
        </p:nvSpPr>
        <p:spPr>
          <a:xfrm>
            <a:off x="883072" y="4243594"/>
            <a:ext cx="6944775" cy="1182745"/>
          </a:xfrm>
          <a:prstGeom prst="rect">
            <a:avLst/>
          </a:prstGeom>
        </p:spPr>
        <p:txBody>
          <a:bodyPr lIns="0" tIns="0" rIns="0" bIns="0" rtlCol="0" anchor="t">
            <a:spAutoFit/>
          </a:bodyPr>
          <a:lstStyle/>
          <a:p>
            <a:pPr algn="l">
              <a:lnSpc>
                <a:spcPts val="8995"/>
              </a:lnSpc>
            </a:pPr>
            <a:r>
              <a:rPr lang="en-US" sz="7820" b="1">
                <a:solidFill>
                  <a:srgbClr val="F15F50"/>
                </a:solidFill>
                <a:latin typeface="Arimo Bold" panose="020B0704020202020204"/>
                <a:ea typeface="Arimo Bold" panose="020B0704020202020204"/>
                <a:cs typeface="Arimo Bold" panose="020B0704020202020204"/>
                <a:sym typeface="Arimo Bold" panose="020B0704020202020204"/>
              </a:rPr>
              <a:t>Khi Đặt Chung</a:t>
            </a:r>
            <a:endParaRPr lang="en-US" sz="7820" b="1">
              <a:solidFill>
                <a:srgbClr val="F15F50"/>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1561195" cy="357769"/>
            <a:chOff x="0" y="0"/>
            <a:chExt cx="2081594" cy="477025"/>
          </a:xfrm>
        </p:grpSpPr>
        <p:sp>
          <p:nvSpPr>
            <p:cNvPr id="5" name="Freeform 5"/>
            <p:cNvSpPr/>
            <p:nvPr/>
          </p:nvSpPr>
          <p:spPr>
            <a:xfrm>
              <a:off x="0" y="0"/>
              <a:ext cx="2081530" cy="477012"/>
            </a:xfrm>
            <a:custGeom>
              <a:avLst/>
              <a:gdLst/>
              <a:ahLst/>
              <a:cxnLst/>
              <a:rect l="l" t="t" r="r" b="b"/>
              <a:pathLst>
                <a:path w="2081530" h="477012">
                  <a:moveTo>
                    <a:pt x="0" y="126111"/>
                  </a:moveTo>
                  <a:cubicBezTo>
                    <a:pt x="0" y="56515"/>
                    <a:pt x="56515" y="0"/>
                    <a:pt x="126111" y="0"/>
                  </a:cubicBezTo>
                  <a:lnTo>
                    <a:pt x="1955419" y="0"/>
                  </a:lnTo>
                  <a:cubicBezTo>
                    <a:pt x="2025142" y="0"/>
                    <a:pt x="2081530" y="56515"/>
                    <a:pt x="2081530" y="126111"/>
                  </a:cubicBezTo>
                  <a:lnTo>
                    <a:pt x="2081530" y="350901"/>
                  </a:lnTo>
                  <a:cubicBezTo>
                    <a:pt x="2081530" y="420624"/>
                    <a:pt x="2025015" y="477012"/>
                    <a:pt x="1955419" y="477012"/>
                  </a:cubicBezTo>
                  <a:lnTo>
                    <a:pt x="126111" y="477012"/>
                  </a:lnTo>
                  <a:cubicBezTo>
                    <a:pt x="56515" y="477012"/>
                    <a:pt x="0" y="420497"/>
                    <a:pt x="0" y="350901"/>
                  </a:cubicBezTo>
                  <a:close/>
                </a:path>
              </a:pathLst>
            </a:custGeom>
            <a:blipFill>
              <a:blip r:embed="rId1">
                <a:alphaModFix amt="0"/>
              </a:blip>
              <a:stretch>
                <a:fillRect t="-35027" r="-3" b="-35030"/>
              </a:stretch>
            </a:blipFill>
            <a:ln w="9532" cap="sq">
              <a:solidFill>
                <a:srgbClr val="3D7BFF"/>
              </a:solidFill>
              <a:prstDash val="solid"/>
              <a:miter/>
            </a:ln>
          </p:spPr>
        </p:sp>
      </p:grpSp>
      <p:sp>
        <p:nvSpPr>
          <p:cNvPr id="6" name="TextBox 6"/>
          <p:cNvSpPr txBox="1"/>
          <p:nvPr/>
        </p:nvSpPr>
        <p:spPr>
          <a:xfrm>
            <a:off x="883072" y="801176"/>
            <a:ext cx="1323975"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QUY TRÌNH</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904585" y="1870379"/>
            <a:ext cx="4060877" cy="1084454"/>
          </a:xfrm>
          <a:prstGeom prst="rect">
            <a:avLst/>
          </a:prstGeom>
        </p:spPr>
        <p:txBody>
          <a:bodyPr lIns="0" tIns="0" rIns="0" bIns="0" rtlCol="0" anchor="t">
            <a:spAutoFit/>
          </a:bodyPr>
          <a:lstStyle/>
          <a:p>
            <a:pPr algn="l">
              <a:lnSpc>
                <a:spcPts val="7820"/>
              </a:lnSpc>
            </a:pPr>
            <a:r>
              <a:rPr lang="en-US" sz="7820" b="1">
                <a:solidFill>
                  <a:srgbClr val="F55448"/>
                </a:solidFill>
                <a:latin typeface="Arimo Bold" panose="020B0704020202020204"/>
                <a:ea typeface="Arimo Bold" panose="020B0704020202020204"/>
                <a:cs typeface="Arimo Bold" panose="020B0704020202020204"/>
                <a:sym typeface="Arimo Bold" panose="020B0704020202020204"/>
              </a:rPr>
              <a:t>5 Bước</a:t>
            </a:r>
            <a:endParaRPr lang="en-US" sz="7820" b="1">
              <a:solidFill>
                <a:srgbClr val="F55448"/>
              </a:solidFill>
              <a:latin typeface="Arimo Bold" panose="020B0704020202020204"/>
              <a:ea typeface="Arimo Bold" panose="020B0704020202020204"/>
              <a:cs typeface="Arimo Bold" panose="020B0704020202020204"/>
              <a:sym typeface="Arimo Bold" panose="020B0704020202020204"/>
            </a:endParaRPr>
          </a:p>
        </p:txBody>
      </p:sp>
      <p:sp>
        <p:nvSpPr>
          <p:cNvPr id="8" name="TextBox 8"/>
          <p:cNvSpPr txBox="1"/>
          <p:nvPr/>
        </p:nvSpPr>
        <p:spPr>
          <a:xfrm>
            <a:off x="858083" y="3060074"/>
            <a:ext cx="8711086" cy="1084454"/>
          </a:xfrm>
          <a:prstGeom prst="rect">
            <a:avLst/>
          </a:prstGeom>
        </p:spPr>
        <p:txBody>
          <a:bodyPr lIns="0" tIns="0" rIns="0" bIns="0" rtlCol="0" anchor="t">
            <a:spAutoFit/>
          </a:bodyPr>
          <a:lstStyle/>
          <a:p>
            <a:pPr algn="l">
              <a:lnSpc>
                <a:spcPts val="7820"/>
              </a:lnSpc>
            </a:pPr>
            <a:r>
              <a:rPr lang="en-US" sz="7820" b="1">
                <a:solidFill>
                  <a:srgbClr val="F6F6F6"/>
                </a:solidFill>
                <a:latin typeface="Arimo Bold" panose="020B0704020202020204"/>
                <a:ea typeface="Arimo Bold" panose="020B0704020202020204"/>
                <a:cs typeface="Arimo Bold" panose="020B0704020202020204"/>
                <a:sym typeface="Arimo Bold" panose="020B0704020202020204"/>
              </a:rPr>
              <a:t>Quản Lý Hóa Đơn</a:t>
            </a:r>
            <a:endParaRPr lang="en-US" sz="7820" b="1">
              <a:solidFill>
                <a:srgbClr val="F6F6F6"/>
              </a:solidFill>
              <a:latin typeface="Arimo Bold" panose="020B0704020202020204"/>
              <a:ea typeface="Arimo Bold" panose="020B0704020202020204"/>
              <a:cs typeface="Arimo Bold" panose="020B0704020202020204"/>
              <a:sym typeface="Arimo Bold" panose="020B0704020202020204"/>
            </a:endParaRPr>
          </a:p>
        </p:txBody>
      </p:sp>
      <p:sp>
        <p:nvSpPr>
          <p:cNvPr id="9" name="Freeform 9"/>
          <p:cNvSpPr/>
          <p:nvPr/>
        </p:nvSpPr>
        <p:spPr>
          <a:xfrm>
            <a:off x="645330" y="5990729"/>
            <a:ext cx="3281340" cy="3017228"/>
          </a:xfrm>
          <a:custGeom>
            <a:avLst/>
            <a:gdLst/>
            <a:ahLst/>
            <a:cxnLst/>
            <a:rect l="l" t="t" r="r" b="b"/>
            <a:pathLst>
              <a:path w="3281340" h="3017228">
                <a:moveTo>
                  <a:pt x="0" y="0"/>
                </a:moveTo>
                <a:lnTo>
                  <a:pt x="3281340" y="0"/>
                </a:lnTo>
                <a:lnTo>
                  <a:pt x="3281340" y="3017228"/>
                </a:lnTo>
                <a:lnTo>
                  <a:pt x="0" y="3017228"/>
                </a:lnTo>
                <a:lnTo>
                  <a:pt x="0" y="0"/>
                </a:lnTo>
                <a:close/>
              </a:path>
            </a:pathLst>
          </a:custGeom>
          <a:blipFill>
            <a:blip r:embed="rId2"/>
            <a:stretch>
              <a:fillRect/>
            </a:stretch>
          </a:blipFill>
        </p:spPr>
      </p:sp>
      <p:sp>
        <p:nvSpPr>
          <p:cNvPr id="10" name="TextBox 10"/>
          <p:cNvSpPr txBox="1"/>
          <p:nvPr/>
        </p:nvSpPr>
        <p:spPr>
          <a:xfrm>
            <a:off x="1465274" y="6740543"/>
            <a:ext cx="1764503" cy="1500536"/>
          </a:xfrm>
          <a:prstGeom prst="rect">
            <a:avLst/>
          </a:prstGeom>
        </p:spPr>
        <p:txBody>
          <a:bodyPr lIns="0" tIns="0" rIns="0" bIns="0" rtlCol="0" anchor="t">
            <a:spAutoFit/>
          </a:bodyPr>
          <a:lstStyle/>
          <a:p>
            <a:pPr algn="ctr">
              <a:lnSpc>
                <a:spcPts val="4040"/>
              </a:lnSpc>
            </a:pPr>
            <a:r>
              <a:rPr lang="en-US" sz="2525" b="1" spc="24">
                <a:solidFill>
                  <a:srgbClr val="FFFFFF">
                    <a:alpha val="84706"/>
                  </a:srgbClr>
                </a:solidFill>
                <a:latin typeface="Arimo Bold" panose="020B0704020202020204"/>
                <a:ea typeface="Arimo Bold" panose="020B0704020202020204"/>
                <a:cs typeface="Arimo Bold" panose="020B0704020202020204"/>
                <a:sym typeface="Arimo Bold" panose="020B0704020202020204"/>
              </a:rPr>
              <a:t>Tải ảnh</a:t>
            </a:r>
            <a:endParaRPr lang="en-US" sz="2525" b="1" spc="24">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040"/>
              </a:lnSpc>
            </a:pPr>
            <a:r>
              <a:rPr lang="en-US" sz="2525" b="1" spc="24">
                <a:solidFill>
                  <a:srgbClr val="FFFFFF">
                    <a:alpha val="84706"/>
                  </a:srgbClr>
                </a:solidFill>
                <a:latin typeface="Arimo Bold" panose="020B0704020202020204"/>
                <a:ea typeface="Arimo Bold" panose="020B0704020202020204"/>
                <a:cs typeface="Arimo Bold" panose="020B0704020202020204"/>
                <a:sym typeface="Arimo Bold" panose="020B0704020202020204"/>
              </a:rPr>
              <a:t>hóa đơn lên</a:t>
            </a:r>
            <a:endParaRPr lang="en-US" sz="2525" b="1" spc="24">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p:txBody>
      </p:sp>
      <p:sp>
        <p:nvSpPr>
          <p:cNvPr id="11" name="Freeform 11"/>
          <p:cNvSpPr/>
          <p:nvPr/>
        </p:nvSpPr>
        <p:spPr>
          <a:xfrm>
            <a:off x="1520354" y="4711687"/>
            <a:ext cx="1750048" cy="1508614"/>
          </a:xfrm>
          <a:custGeom>
            <a:avLst/>
            <a:gdLst/>
            <a:ahLst/>
            <a:cxnLst/>
            <a:rect l="l" t="t" r="r" b="b"/>
            <a:pathLst>
              <a:path w="1750048" h="1508614">
                <a:moveTo>
                  <a:pt x="0" y="0"/>
                </a:moveTo>
                <a:lnTo>
                  <a:pt x="1750048" y="0"/>
                </a:lnTo>
                <a:lnTo>
                  <a:pt x="1750048" y="1508614"/>
                </a:lnTo>
                <a:lnTo>
                  <a:pt x="0" y="1508614"/>
                </a:lnTo>
                <a:lnTo>
                  <a:pt x="0" y="0"/>
                </a:lnTo>
                <a:close/>
              </a:path>
            </a:pathLst>
          </a:custGeom>
          <a:blipFill>
            <a:blip r:embed="rId3"/>
            <a:stretch>
              <a:fillRect/>
            </a:stretch>
          </a:blipFill>
        </p:spPr>
      </p:sp>
      <p:sp>
        <p:nvSpPr>
          <p:cNvPr id="12" name="TextBox 12"/>
          <p:cNvSpPr txBox="1"/>
          <p:nvPr/>
        </p:nvSpPr>
        <p:spPr>
          <a:xfrm>
            <a:off x="2127607" y="4986273"/>
            <a:ext cx="538956" cy="940014"/>
          </a:xfrm>
          <a:prstGeom prst="rect">
            <a:avLst/>
          </a:prstGeom>
        </p:spPr>
        <p:txBody>
          <a:bodyPr lIns="0" tIns="0" rIns="0" bIns="0" rtlCol="0" anchor="t">
            <a:spAutoFit/>
          </a:bodyPr>
          <a:lstStyle/>
          <a:p>
            <a:pPr algn="ctr">
              <a:lnSpc>
                <a:spcPts val="7125"/>
              </a:lnSpc>
            </a:pPr>
            <a:r>
              <a:rPr lang="en-US" sz="7125" b="1">
                <a:solidFill>
                  <a:srgbClr val="F6F6F6"/>
                </a:solidFill>
                <a:latin typeface="Lato Heavy" panose="020F0502020204030203"/>
                <a:ea typeface="Lato Heavy" panose="020F0502020204030203"/>
                <a:cs typeface="Lato Heavy" panose="020F0502020204030203"/>
                <a:sym typeface="Lato Heavy" panose="020F0502020204030203"/>
              </a:rPr>
              <a:t>1</a:t>
            </a:r>
            <a:endParaRPr lang="en-US" sz="7125" b="1">
              <a:solidFill>
                <a:srgbClr val="F6F6F6"/>
              </a:solidFill>
              <a:latin typeface="Lato Heavy" panose="020F0502020204030203"/>
              <a:ea typeface="Lato Heavy" panose="020F0502020204030203"/>
              <a:cs typeface="Lato Heavy" panose="020F0502020204030203"/>
              <a:sym typeface="Lato Heavy" panose="020F0502020204030203"/>
            </a:endParaRPr>
          </a:p>
        </p:txBody>
      </p:sp>
      <p:sp>
        <p:nvSpPr>
          <p:cNvPr id="13" name="Freeform 13"/>
          <p:cNvSpPr/>
          <p:nvPr/>
        </p:nvSpPr>
        <p:spPr>
          <a:xfrm>
            <a:off x="3259464" y="513803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4"/>
            <a:stretch>
              <a:fillRect/>
            </a:stretch>
          </a:blipFill>
        </p:spPr>
      </p:sp>
      <p:sp>
        <p:nvSpPr>
          <p:cNvPr id="14" name="Freeform 14"/>
          <p:cNvSpPr/>
          <p:nvPr/>
        </p:nvSpPr>
        <p:spPr>
          <a:xfrm>
            <a:off x="4134488" y="5990729"/>
            <a:ext cx="3270402" cy="3017228"/>
          </a:xfrm>
          <a:custGeom>
            <a:avLst/>
            <a:gdLst/>
            <a:ahLst/>
            <a:cxnLst/>
            <a:rect l="l" t="t" r="r" b="b"/>
            <a:pathLst>
              <a:path w="3270402" h="3017228">
                <a:moveTo>
                  <a:pt x="0" y="0"/>
                </a:moveTo>
                <a:lnTo>
                  <a:pt x="3270402" y="0"/>
                </a:lnTo>
                <a:lnTo>
                  <a:pt x="3270402" y="3017228"/>
                </a:lnTo>
                <a:lnTo>
                  <a:pt x="0" y="3017228"/>
                </a:lnTo>
                <a:lnTo>
                  <a:pt x="0" y="0"/>
                </a:lnTo>
                <a:close/>
              </a:path>
            </a:pathLst>
          </a:custGeom>
          <a:blipFill>
            <a:blip r:embed="rId5"/>
            <a:stretch>
              <a:fillRect/>
            </a:stretch>
          </a:blipFill>
        </p:spPr>
      </p:sp>
      <p:sp>
        <p:nvSpPr>
          <p:cNvPr id="15" name="TextBox 15"/>
          <p:cNvSpPr txBox="1"/>
          <p:nvPr/>
        </p:nvSpPr>
        <p:spPr>
          <a:xfrm>
            <a:off x="4921033" y="6635339"/>
            <a:ext cx="1619771" cy="1552779"/>
          </a:xfrm>
          <a:prstGeom prst="rect">
            <a:avLst/>
          </a:prstGeom>
        </p:spPr>
        <p:txBody>
          <a:bodyPr lIns="0" tIns="0" rIns="0" bIns="0" rtlCol="0" anchor="t">
            <a:spAutoFit/>
          </a:bodyPr>
          <a:lstStyle/>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AI đọc và</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trích xuất</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dữ liệu</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p:txBody>
      </p:sp>
      <p:sp>
        <p:nvSpPr>
          <p:cNvPr id="16" name="Freeform 16"/>
          <p:cNvSpPr/>
          <p:nvPr/>
        </p:nvSpPr>
        <p:spPr>
          <a:xfrm>
            <a:off x="4998574" y="4711687"/>
            <a:ext cx="1542230" cy="1508614"/>
          </a:xfrm>
          <a:custGeom>
            <a:avLst/>
            <a:gdLst/>
            <a:ahLst/>
            <a:cxnLst/>
            <a:rect l="l" t="t" r="r" b="b"/>
            <a:pathLst>
              <a:path w="1542230" h="1508614">
                <a:moveTo>
                  <a:pt x="0" y="0"/>
                </a:moveTo>
                <a:lnTo>
                  <a:pt x="1542230" y="0"/>
                </a:lnTo>
                <a:lnTo>
                  <a:pt x="1542230" y="1508614"/>
                </a:lnTo>
                <a:lnTo>
                  <a:pt x="0" y="1508614"/>
                </a:lnTo>
                <a:lnTo>
                  <a:pt x="0" y="0"/>
                </a:lnTo>
                <a:close/>
              </a:path>
            </a:pathLst>
          </a:custGeom>
          <a:blipFill>
            <a:blip r:embed="rId6"/>
            <a:stretch>
              <a:fillRect/>
            </a:stretch>
          </a:blipFill>
        </p:spPr>
      </p:sp>
      <p:sp>
        <p:nvSpPr>
          <p:cNvPr id="17" name="TextBox 17"/>
          <p:cNvSpPr txBox="1"/>
          <p:nvPr/>
        </p:nvSpPr>
        <p:spPr>
          <a:xfrm>
            <a:off x="5529818" y="4986273"/>
            <a:ext cx="538956" cy="940014"/>
          </a:xfrm>
          <a:prstGeom prst="rect">
            <a:avLst/>
          </a:prstGeom>
        </p:spPr>
        <p:txBody>
          <a:bodyPr lIns="0" tIns="0" rIns="0" bIns="0" rtlCol="0" anchor="t">
            <a:spAutoFit/>
          </a:bodyPr>
          <a:lstStyle/>
          <a:p>
            <a:pPr algn="ctr">
              <a:lnSpc>
                <a:spcPts val="7125"/>
              </a:lnSpc>
            </a:pPr>
            <a:r>
              <a:rPr lang="en-US" sz="7125" b="1">
                <a:solidFill>
                  <a:srgbClr val="F6F6F6"/>
                </a:solidFill>
                <a:latin typeface="Lato Heavy" panose="020F0502020204030203"/>
                <a:ea typeface="Lato Heavy" panose="020F0502020204030203"/>
                <a:cs typeface="Lato Heavy" panose="020F0502020204030203"/>
                <a:sym typeface="Lato Heavy" panose="020F0502020204030203"/>
              </a:rPr>
              <a:t>2</a:t>
            </a:r>
            <a:endParaRPr lang="en-US" sz="7125" b="1">
              <a:solidFill>
                <a:srgbClr val="F6F6F6"/>
              </a:solidFill>
              <a:latin typeface="Lato Heavy" panose="020F0502020204030203"/>
              <a:ea typeface="Lato Heavy" panose="020F0502020204030203"/>
              <a:cs typeface="Lato Heavy" panose="020F0502020204030203"/>
              <a:sym typeface="Lato Heavy" panose="020F0502020204030203"/>
            </a:endParaRPr>
          </a:p>
        </p:txBody>
      </p:sp>
      <p:sp>
        <p:nvSpPr>
          <p:cNvPr id="18" name="Freeform 18"/>
          <p:cNvSpPr/>
          <p:nvPr/>
        </p:nvSpPr>
        <p:spPr>
          <a:xfrm>
            <a:off x="6529866" y="513803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7"/>
            <a:stretch>
              <a:fillRect/>
            </a:stretch>
          </a:blipFill>
        </p:spPr>
      </p:sp>
      <p:sp>
        <p:nvSpPr>
          <p:cNvPr id="19" name="Freeform 19"/>
          <p:cNvSpPr/>
          <p:nvPr/>
        </p:nvSpPr>
        <p:spPr>
          <a:xfrm>
            <a:off x="7393952" y="5990729"/>
            <a:ext cx="3500096" cy="3017228"/>
          </a:xfrm>
          <a:custGeom>
            <a:avLst/>
            <a:gdLst/>
            <a:ahLst/>
            <a:cxnLst/>
            <a:rect l="l" t="t" r="r" b="b"/>
            <a:pathLst>
              <a:path w="3500096" h="3017228">
                <a:moveTo>
                  <a:pt x="0" y="0"/>
                </a:moveTo>
                <a:lnTo>
                  <a:pt x="3500096" y="0"/>
                </a:lnTo>
                <a:lnTo>
                  <a:pt x="3500096" y="3017228"/>
                </a:lnTo>
                <a:lnTo>
                  <a:pt x="0" y="3017228"/>
                </a:lnTo>
                <a:lnTo>
                  <a:pt x="0" y="0"/>
                </a:lnTo>
                <a:close/>
              </a:path>
            </a:pathLst>
          </a:custGeom>
          <a:blipFill>
            <a:blip r:embed="rId8"/>
            <a:stretch>
              <a:fillRect/>
            </a:stretch>
          </a:blipFill>
        </p:spPr>
      </p:sp>
      <p:sp>
        <p:nvSpPr>
          <p:cNvPr id="20" name="TextBox 20"/>
          <p:cNvSpPr txBox="1"/>
          <p:nvPr/>
        </p:nvSpPr>
        <p:spPr>
          <a:xfrm>
            <a:off x="8054185" y="6635339"/>
            <a:ext cx="2179631" cy="1613535"/>
          </a:xfrm>
          <a:prstGeom prst="rect">
            <a:avLst/>
          </a:prstGeom>
        </p:spPr>
        <p:txBody>
          <a:bodyPr lIns="0" tIns="0" rIns="0" bIns="0" rtlCol="0" anchor="t">
            <a:spAutoFit/>
          </a:bodyPr>
          <a:lstStyle/>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Người dùng</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rà soát, phân loại chia món</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p:txBody>
      </p:sp>
      <p:sp>
        <p:nvSpPr>
          <p:cNvPr id="21" name="Freeform 21"/>
          <p:cNvSpPr/>
          <p:nvPr/>
        </p:nvSpPr>
        <p:spPr>
          <a:xfrm>
            <a:off x="8268976" y="4711687"/>
            <a:ext cx="1750048" cy="1508614"/>
          </a:xfrm>
          <a:custGeom>
            <a:avLst/>
            <a:gdLst/>
            <a:ahLst/>
            <a:cxnLst/>
            <a:rect l="l" t="t" r="r" b="b"/>
            <a:pathLst>
              <a:path w="1750048" h="1508614">
                <a:moveTo>
                  <a:pt x="0" y="0"/>
                </a:moveTo>
                <a:lnTo>
                  <a:pt x="1750048" y="0"/>
                </a:lnTo>
                <a:lnTo>
                  <a:pt x="1750048" y="1508614"/>
                </a:lnTo>
                <a:lnTo>
                  <a:pt x="0" y="1508614"/>
                </a:lnTo>
                <a:lnTo>
                  <a:pt x="0" y="0"/>
                </a:lnTo>
                <a:close/>
              </a:path>
            </a:pathLst>
          </a:custGeom>
          <a:blipFill>
            <a:blip r:embed="rId9"/>
            <a:stretch>
              <a:fillRect/>
            </a:stretch>
          </a:blipFill>
        </p:spPr>
      </p:sp>
      <p:sp>
        <p:nvSpPr>
          <p:cNvPr id="22" name="TextBox 22"/>
          <p:cNvSpPr txBox="1"/>
          <p:nvPr/>
        </p:nvSpPr>
        <p:spPr>
          <a:xfrm>
            <a:off x="8878451" y="4986273"/>
            <a:ext cx="538956" cy="940014"/>
          </a:xfrm>
          <a:prstGeom prst="rect">
            <a:avLst/>
          </a:prstGeom>
        </p:spPr>
        <p:txBody>
          <a:bodyPr lIns="0" tIns="0" rIns="0" bIns="0" rtlCol="0" anchor="t">
            <a:spAutoFit/>
          </a:bodyPr>
          <a:lstStyle/>
          <a:p>
            <a:pPr algn="ctr">
              <a:lnSpc>
                <a:spcPts val="7125"/>
              </a:lnSpc>
            </a:pPr>
            <a:r>
              <a:rPr lang="en-US" sz="7125" b="1">
                <a:solidFill>
                  <a:srgbClr val="F6F6F6"/>
                </a:solidFill>
                <a:latin typeface="Lato Heavy" panose="020F0502020204030203"/>
                <a:ea typeface="Lato Heavy" panose="020F0502020204030203"/>
                <a:cs typeface="Lato Heavy" panose="020F0502020204030203"/>
                <a:sym typeface="Lato Heavy" panose="020F0502020204030203"/>
              </a:rPr>
              <a:t>3</a:t>
            </a:r>
            <a:endParaRPr lang="en-US" sz="7125" b="1">
              <a:solidFill>
                <a:srgbClr val="F6F6F6"/>
              </a:solidFill>
              <a:latin typeface="Lato Heavy" panose="020F0502020204030203"/>
              <a:ea typeface="Lato Heavy" panose="020F0502020204030203"/>
              <a:cs typeface="Lato Heavy" panose="020F0502020204030203"/>
              <a:sym typeface="Lato Heavy" panose="020F0502020204030203"/>
            </a:endParaRPr>
          </a:p>
        </p:txBody>
      </p:sp>
      <p:sp>
        <p:nvSpPr>
          <p:cNvPr id="23" name="Freeform 23"/>
          <p:cNvSpPr/>
          <p:nvPr/>
        </p:nvSpPr>
        <p:spPr>
          <a:xfrm>
            <a:off x="10008086" y="513803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10"/>
            <a:stretch>
              <a:fillRect/>
            </a:stretch>
          </a:blipFill>
        </p:spPr>
      </p:sp>
      <p:sp>
        <p:nvSpPr>
          <p:cNvPr id="24" name="Freeform 24"/>
          <p:cNvSpPr/>
          <p:nvPr/>
        </p:nvSpPr>
        <p:spPr>
          <a:xfrm>
            <a:off x="10883110" y="5990729"/>
            <a:ext cx="3270402" cy="3017228"/>
          </a:xfrm>
          <a:custGeom>
            <a:avLst/>
            <a:gdLst/>
            <a:ahLst/>
            <a:cxnLst/>
            <a:rect l="l" t="t" r="r" b="b"/>
            <a:pathLst>
              <a:path w="3270402" h="3017228">
                <a:moveTo>
                  <a:pt x="0" y="0"/>
                </a:moveTo>
                <a:lnTo>
                  <a:pt x="3270402" y="0"/>
                </a:lnTo>
                <a:lnTo>
                  <a:pt x="3270402" y="3017228"/>
                </a:lnTo>
                <a:lnTo>
                  <a:pt x="0" y="3017228"/>
                </a:lnTo>
                <a:lnTo>
                  <a:pt x="0" y="0"/>
                </a:lnTo>
                <a:close/>
              </a:path>
            </a:pathLst>
          </a:custGeom>
          <a:blipFill>
            <a:blip r:embed="rId11"/>
            <a:stretch>
              <a:fillRect/>
            </a:stretch>
          </a:blipFill>
        </p:spPr>
      </p:sp>
      <p:sp>
        <p:nvSpPr>
          <p:cNvPr id="25" name="TextBox 25"/>
          <p:cNvSpPr txBox="1"/>
          <p:nvPr/>
        </p:nvSpPr>
        <p:spPr>
          <a:xfrm>
            <a:off x="11233206" y="6635339"/>
            <a:ext cx="2580289" cy="1613535"/>
          </a:xfrm>
          <a:prstGeom prst="rect">
            <a:avLst/>
          </a:prstGeom>
        </p:spPr>
        <p:txBody>
          <a:bodyPr lIns="0" tIns="0" rIns="0" bIns="0" rtlCol="0" anchor="t">
            <a:spAutoFit/>
          </a:bodyPr>
          <a:lstStyle/>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Lưu và gửi link </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tự nhận món</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người dùng</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p:txBody>
      </p:sp>
      <p:sp>
        <p:nvSpPr>
          <p:cNvPr id="26" name="Freeform 26"/>
          <p:cNvSpPr/>
          <p:nvPr/>
        </p:nvSpPr>
        <p:spPr>
          <a:xfrm>
            <a:off x="11747196" y="4711687"/>
            <a:ext cx="1542230" cy="1508614"/>
          </a:xfrm>
          <a:custGeom>
            <a:avLst/>
            <a:gdLst/>
            <a:ahLst/>
            <a:cxnLst/>
            <a:rect l="l" t="t" r="r" b="b"/>
            <a:pathLst>
              <a:path w="1542230" h="1508614">
                <a:moveTo>
                  <a:pt x="0" y="0"/>
                </a:moveTo>
                <a:lnTo>
                  <a:pt x="1542230" y="0"/>
                </a:lnTo>
                <a:lnTo>
                  <a:pt x="1542230" y="1508614"/>
                </a:lnTo>
                <a:lnTo>
                  <a:pt x="0" y="1508614"/>
                </a:lnTo>
                <a:lnTo>
                  <a:pt x="0" y="0"/>
                </a:lnTo>
                <a:close/>
              </a:path>
            </a:pathLst>
          </a:custGeom>
          <a:blipFill>
            <a:blip r:embed="rId12"/>
            <a:stretch>
              <a:fillRect/>
            </a:stretch>
          </a:blipFill>
        </p:spPr>
      </p:sp>
      <p:sp>
        <p:nvSpPr>
          <p:cNvPr id="27" name="TextBox 27"/>
          <p:cNvSpPr txBox="1"/>
          <p:nvPr/>
        </p:nvSpPr>
        <p:spPr>
          <a:xfrm>
            <a:off x="12253873" y="4986273"/>
            <a:ext cx="538956" cy="940014"/>
          </a:xfrm>
          <a:prstGeom prst="rect">
            <a:avLst/>
          </a:prstGeom>
        </p:spPr>
        <p:txBody>
          <a:bodyPr lIns="0" tIns="0" rIns="0" bIns="0" rtlCol="0" anchor="t">
            <a:spAutoFit/>
          </a:bodyPr>
          <a:lstStyle/>
          <a:p>
            <a:pPr algn="ctr">
              <a:lnSpc>
                <a:spcPts val="7125"/>
              </a:lnSpc>
            </a:pPr>
            <a:r>
              <a:rPr lang="en-US" sz="7125" b="1">
                <a:solidFill>
                  <a:srgbClr val="F6F6F6"/>
                </a:solidFill>
                <a:latin typeface="Lato Heavy" panose="020F0502020204030203"/>
                <a:ea typeface="Lato Heavy" panose="020F0502020204030203"/>
                <a:cs typeface="Lato Heavy" panose="020F0502020204030203"/>
                <a:sym typeface="Lato Heavy" panose="020F0502020204030203"/>
              </a:rPr>
              <a:t>4</a:t>
            </a:r>
            <a:endParaRPr lang="en-US" sz="7125" b="1">
              <a:solidFill>
                <a:srgbClr val="F6F6F6"/>
              </a:solidFill>
              <a:latin typeface="Lato Heavy" panose="020F0502020204030203"/>
              <a:ea typeface="Lato Heavy" panose="020F0502020204030203"/>
              <a:cs typeface="Lato Heavy" panose="020F0502020204030203"/>
              <a:sym typeface="Lato Heavy" panose="020F0502020204030203"/>
            </a:endParaRPr>
          </a:p>
        </p:txBody>
      </p:sp>
      <p:sp>
        <p:nvSpPr>
          <p:cNvPr id="28" name="Freeform 28"/>
          <p:cNvSpPr/>
          <p:nvPr/>
        </p:nvSpPr>
        <p:spPr>
          <a:xfrm>
            <a:off x="13278488" y="513803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13"/>
            <a:stretch>
              <a:fillRect/>
            </a:stretch>
          </a:blipFill>
        </p:spPr>
      </p:sp>
      <p:sp>
        <p:nvSpPr>
          <p:cNvPr id="29" name="Freeform 29"/>
          <p:cNvSpPr/>
          <p:nvPr/>
        </p:nvSpPr>
        <p:spPr>
          <a:xfrm>
            <a:off x="14142574" y="5990729"/>
            <a:ext cx="3500096" cy="3017228"/>
          </a:xfrm>
          <a:custGeom>
            <a:avLst/>
            <a:gdLst/>
            <a:ahLst/>
            <a:cxnLst/>
            <a:rect l="l" t="t" r="r" b="b"/>
            <a:pathLst>
              <a:path w="3500096" h="3017228">
                <a:moveTo>
                  <a:pt x="0" y="0"/>
                </a:moveTo>
                <a:lnTo>
                  <a:pt x="3500096" y="0"/>
                </a:lnTo>
                <a:lnTo>
                  <a:pt x="3500096" y="3017228"/>
                </a:lnTo>
                <a:lnTo>
                  <a:pt x="0" y="3017228"/>
                </a:lnTo>
                <a:lnTo>
                  <a:pt x="0" y="0"/>
                </a:lnTo>
                <a:close/>
              </a:path>
            </a:pathLst>
          </a:custGeom>
          <a:blipFill>
            <a:blip r:embed="rId14"/>
            <a:stretch>
              <a:fillRect/>
            </a:stretch>
          </a:blipFill>
        </p:spPr>
      </p:sp>
      <p:sp>
        <p:nvSpPr>
          <p:cNvPr id="30" name="TextBox 30"/>
          <p:cNvSpPr txBox="1"/>
          <p:nvPr/>
        </p:nvSpPr>
        <p:spPr>
          <a:xfrm>
            <a:off x="15028536" y="6635339"/>
            <a:ext cx="1782859" cy="1613535"/>
          </a:xfrm>
          <a:prstGeom prst="rect">
            <a:avLst/>
          </a:prstGeom>
        </p:spPr>
        <p:txBody>
          <a:bodyPr lIns="0" tIns="0" rIns="0" bIns="0" rtlCol="0" anchor="t">
            <a:spAutoFit/>
          </a:bodyPr>
          <a:lstStyle/>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Nhắc nợ,</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a:p>
            <a:pPr algn="ctr">
              <a:lnSpc>
                <a:spcPts val="4195"/>
              </a:lnSpc>
            </a:pPr>
            <a:r>
              <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rPr>
              <a:t>xem lịch sử</a:t>
            </a:r>
            <a:endParaRPr lang="en-US" sz="2625" b="1" spc="25">
              <a:solidFill>
                <a:srgbClr val="FFFFFF">
                  <a:alpha val="84706"/>
                </a:srgbClr>
              </a:solidFill>
              <a:latin typeface="Arimo Bold" panose="020B0704020202020204"/>
              <a:ea typeface="Arimo Bold" panose="020B0704020202020204"/>
              <a:cs typeface="Arimo Bold" panose="020B0704020202020204"/>
              <a:sym typeface="Arimo Bold" panose="020B0704020202020204"/>
            </a:endParaRPr>
          </a:p>
        </p:txBody>
      </p:sp>
      <p:sp>
        <p:nvSpPr>
          <p:cNvPr id="31" name="Freeform 31"/>
          <p:cNvSpPr/>
          <p:nvPr/>
        </p:nvSpPr>
        <p:spPr>
          <a:xfrm>
            <a:off x="15017598" y="4711687"/>
            <a:ext cx="1750048" cy="1508614"/>
          </a:xfrm>
          <a:custGeom>
            <a:avLst/>
            <a:gdLst/>
            <a:ahLst/>
            <a:cxnLst/>
            <a:rect l="l" t="t" r="r" b="b"/>
            <a:pathLst>
              <a:path w="1750048" h="1508614">
                <a:moveTo>
                  <a:pt x="0" y="0"/>
                </a:moveTo>
                <a:lnTo>
                  <a:pt x="1750048" y="0"/>
                </a:lnTo>
                <a:lnTo>
                  <a:pt x="1750048" y="1508614"/>
                </a:lnTo>
                <a:lnTo>
                  <a:pt x="0" y="1508614"/>
                </a:lnTo>
                <a:lnTo>
                  <a:pt x="0" y="0"/>
                </a:lnTo>
                <a:close/>
              </a:path>
            </a:pathLst>
          </a:custGeom>
          <a:blipFill>
            <a:blip r:embed="rId15"/>
            <a:stretch>
              <a:fillRect/>
            </a:stretch>
          </a:blipFill>
        </p:spPr>
      </p:sp>
      <p:sp>
        <p:nvSpPr>
          <p:cNvPr id="32" name="TextBox 32"/>
          <p:cNvSpPr txBox="1"/>
          <p:nvPr/>
        </p:nvSpPr>
        <p:spPr>
          <a:xfrm>
            <a:off x="15629295" y="4986273"/>
            <a:ext cx="538956" cy="940014"/>
          </a:xfrm>
          <a:prstGeom prst="rect">
            <a:avLst/>
          </a:prstGeom>
        </p:spPr>
        <p:txBody>
          <a:bodyPr lIns="0" tIns="0" rIns="0" bIns="0" rtlCol="0" anchor="t">
            <a:spAutoFit/>
          </a:bodyPr>
          <a:lstStyle/>
          <a:p>
            <a:pPr algn="ctr">
              <a:lnSpc>
                <a:spcPts val="7125"/>
              </a:lnSpc>
            </a:pPr>
            <a:r>
              <a:rPr lang="en-US" sz="7125" b="1">
                <a:solidFill>
                  <a:srgbClr val="F6F6F6"/>
                </a:solidFill>
                <a:latin typeface="Lato Heavy" panose="020F0502020204030203"/>
                <a:ea typeface="Lato Heavy" panose="020F0502020204030203"/>
                <a:cs typeface="Lato Heavy" panose="020F0502020204030203"/>
                <a:sym typeface="Lato Heavy" panose="020F0502020204030203"/>
              </a:rPr>
              <a:t>5</a:t>
            </a:r>
            <a:endParaRPr lang="en-US" sz="7125" b="1">
              <a:solidFill>
                <a:srgbClr val="F6F6F6"/>
              </a:solidFill>
              <a:latin typeface="Lato Heavy" panose="020F0502020204030203"/>
              <a:ea typeface="Lato Heavy" panose="020F0502020204030203"/>
              <a:cs typeface="Lato Heavy" panose="020F0502020204030203"/>
              <a:sym typeface="Lato Heavy" panose="020F050202020403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2422674" cy="357769"/>
            <a:chOff x="0" y="0"/>
            <a:chExt cx="3230232" cy="477025"/>
          </a:xfrm>
        </p:grpSpPr>
        <p:sp>
          <p:nvSpPr>
            <p:cNvPr id="5" name="Freeform 5"/>
            <p:cNvSpPr/>
            <p:nvPr/>
          </p:nvSpPr>
          <p:spPr>
            <a:xfrm>
              <a:off x="0" y="0"/>
              <a:ext cx="3230245" cy="477012"/>
            </a:xfrm>
            <a:custGeom>
              <a:avLst/>
              <a:gdLst/>
              <a:ahLst/>
              <a:cxnLst/>
              <a:rect l="l" t="t" r="r" b="b"/>
              <a:pathLst>
                <a:path w="3230245" h="477012">
                  <a:moveTo>
                    <a:pt x="0" y="126111"/>
                  </a:moveTo>
                  <a:cubicBezTo>
                    <a:pt x="0" y="56515"/>
                    <a:pt x="56515" y="0"/>
                    <a:pt x="126111" y="0"/>
                  </a:cubicBezTo>
                  <a:lnTo>
                    <a:pt x="3104134" y="0"/>
                  </a:lnTo>
                  <a:cubicBezTo>
                    <a:pt x="3173857" y="0"/>
                    <a:pt x="3230245" y="56515"/>
                    <a:pt x="3230245" y="126111"/>
                  </a:cubicBezTo>
                  <a:lnTo>
                    <a:pt x="3230245" y="350901"/>
                  </a:lnTo>
                  <a:cubicBezTo>
                    <a:pt x="3230245" y="420624"/>
                    <a:pt x="3173730" y="477012"/>
                    <a:pt x="3104134" y="477012"/>
                  </a:cubicBezTo>
                  <a:lnTo>
                    <a:pt x="126111" y="477012"/>
                  </a:lnTo>
                  <a:cubicBezTo>
                    <a:pt x="56515" y="477012"/>
                    <a:pt x="0" y="420497"/>
                    <a:pt x="0" y="350901"/>
                  </a:cubicBezTo>
                  <a:close/>
                </a:path>
              </a:pathLst>
            </a:custGeom>
            <a:blipFill>
              <a:blip r:embed="rId1">
                <a:alphaModFix amt="0"/>
              </a:blip>
              <a:stretch>
                <a:fillRect t="-81947" b="-81950"/>
              </a:stretch>
            </a:blipFill>
            <a:ln w="9532" cap="sq">
              <a:solidFill>
                <a:srgbClr val="3D7BFF"/>
              </a:solidFill>
              <a:prstDash val="solid"/>
              <a:miter/>
            </a:ln>
          </p:spPr>
        </p:sp>
      </p:grpSp>
      <p:sp>
        <p:nvSpPr>
          <p:cNvPr id="6" name="TextBox 6"/>
          <p:cNvSpPr txBox="1"/>
          <p:nvPr/>
        </p:nvSpPr>
        <p:spPr>
          <a:xfrm>
            <a:off x="883072" y="801176"/>
            <a:ext cx="2268587"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AI ĐỌC → RÀ SOÁT</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755650" y="1562735"/>
            <a:ext cx="10758805" cy="665480"/>
          </a:xfrm>
          <a:prstGeom prst="rect">
            <a:avLst/>
          </a:prstGeom>
        </p:spPr>
        <p:txBody>
          <a:bodyPr wrap="square" lIns="0" tIns="0" rIns="0" bIns="0" rtlCol="0" anchor="t">
            <a:spAutoFit/>
          </a:bodyPr>
          <a:lstStyle/>
          <a:p>
            <a:pPr algn="l">
              <a:lnSpc>
                <a:spcPts val="5190"/>
              </a:lnSpc>
            </a:pPr>
            <a:r>
              <a:rPr lang="en-US" sz="4805" b="1" spc="-96">
                <a:solidFill>
                  <a:srgbClr val="FFFFFF"/>
                </a:solidFill>
                <a:latin typeface="Arimo Bold" panose="020B0704020202020204"/>
                <a:ea typeface="Arimo Bold" panose="020B0704020202020204"/>
                <a:cs typeface="Arimo Bold" panose="020B0704020202020204"/>
                <a:sym typeface="Arimo Bold" panose="020B0704020202020204"/>
              </a:rPr>
              <a:t>AI đọc hóa đơn, con người đối soát</a:t>
            </a:r>
            <a:endParaRPr lang="en-US" sz="4805" b="1" spc="-96">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8" name="Group 8"/>
          <p:cNvGrpSpPr/>
          <p:nvPr/>
        </p:nvGrpSpPr>
        <p:grpSpPr>
          <a:xfrm rot="0">
            <a:off x="883072" y="2501610"/>
            <a:ext cx="16191690" cy="4789170"/>
            <a:chOff x="0" y="0"/>
            <a:chExt cx="21555507" cy="6375677"/>
          </a:xfrm>
        </p:grpSpPr>
        <p:sp>
          <p:nvSpPr>
            <p:cNvPr id="9" name="Freeform 9"/>
            <p:cNvSpPr/>
            <p:nvPr/>
          </p:nvSpPr>
          <p:spPr>
            <a:xfrm>
              <a:off x="0" y="0"/>
              <a:ext cx="21555456" cy="6375702"/>
            </a:xfrm>
            <a:custGeom>
              <a:avLst/>
              <a:gdLst/>
              <a:ahLst/>
              <a:cxnLst/>
              <a:rect l="l" t="t" r="r" b="b"/>
              <a:pathLst>
                <a:path w="21555456" h="6375702">
                  <a:moveTo>
                    <a:pt x="0" y="0"/>
                  </a:moveTo>
                  <a:lnTo>
                    <a:pt x="21555456" y="0"/>
                  </a:lnTo>
                  <a:lnTo>
                    <a:pt x="21555456" y="6375702"/>
                  </a:lnTo>
                  <a:lnTo>
                    <a:pt x="0" y="6375702"/>
                  </a:lnTo>
                  <a:lnTo>
                    <a:pt x="0" y="0"/>
                  </a:lnTo>
                  <a:close/>
                </a:path>
              </a:pathLst>
            </a:custGeom>
            <a:blipFill>
              <a:blip r:embed="rId2"/>
              <a:stretch>
                <a:fillRect t="-6245" b="-6245"/>
              </a:stretch>
            </a:blipFill>
          </p:spPr>
        </p:sp>
      </p:grpSp>
      <p:sp>
        <p:nvSpPr>
          <p:cNvPr id="10" name="TextBox 10"/>
          <p:cNvSpPr txBox="1"/>
          <p:nvPr/>
        </p:nvSpPr>
        <p:spPr>
          <a:xfrm>
            <a:off x="762581" y="7357158"/>
            <a:ext cx="16776687" cy="1580255"/>
          </a:xfrm>
          <a:prstGeom prst="rect">
            <a:avLst/>
          </a:prstGeom>
        </p:spPr>
        <p:txBody>
          <a:bodyPr lIns="0" tIns="0" rIns="0" bIns="0" rtlCol="0" anchor="t">
            <a:spAutoFit/>
          </a:bodyPr>
          <a:lstStyle/>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Tải nhiều ảnh của cùng một hóa đơn.</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Trích xuất tên quán, món, số lượng, đơn giá, phí, giảm giá và tổng tiền.</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Rà soát cảnh báo, chỉnh thông tin trước khi lưu.</a:t>
            </a:r>
            <a:endParaRPr lang="en-US" sz="2550">
              <a:solidFill>
                <a:srgbClr val="D6DEEC"/>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762581" y="9171003"/>
            <a:ext cx="17539268" cy="457514"/>
          </a:xfrm>
          <a:prstGeom prst="rect">
            <a:avLst/>
          </a:prstGeom>
        </p:spPr>
        <p:txBody>
          <a:bodyPr lIns="0" tIns="0" rIns="0" bIns="0" rtlCol="0" anchor="t">
            <a:spAutoFit/>
          </a:bodyPr>
          <a:lstStyle/>
          <a:p>
            <a:pPr algn="l">
              <a:lnSpc>
                <a:spcPts val="3160"/>
              </a:lnSpc>
            </a:pPr>
            <a:r>
              <a:rPr lang="en-US" sz="2250">
                <a:solidFill>
                  <a:srgbClr val="EE5A45"/>
                </a:solidFill>
                <a:latin typeface="Arimo" panose="020B0604020202020204"/>
                <a:ea typeface="Arimo" panose="020B0604020202020204"/>
                <a:cs typeface="Arimo" panose="020B0604020202020204"/>
                <a:sym typeface="Arimo" panose="020B0604020202020204"/>
              </a:rPr>
              <a:t>AI có thể nhận dạng sai. Kiểm tra ảnh và số tiền trước khi xác nhận.</a:t>
            </a:r>
            <a:endParaRPr lang="en-US" sz="2250">
              <a:solidFill>
                <a:srgbClr val="EE5A45"/>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2300097" cy="357769"/>
            <a:chOff x="0" y="0"/>
            <a:chExt cx="3066796" cy="477025"/>
          </a:xfrm>
        </p:grpSpPr>
        <p:sp>
          <p:nvSpPr>
            <p:cNvPr id="5" name="Freeform 5"/>
            <p:cNvSpPr/>
            <p:nvPr/>
          </p:nvSpPr>
          <p:spPr>
            <a:xfrm>
              <a:off x="0" y="0"/>
              <a:ext cx="3066796" cy="477012"/>
            </a:xfrm>
            <a:custGeom>
              <a:avLst/>
              <a:gdLst/>
              <a:ahLst/>
              <a:cxnLst/>
              <a:rect l="l" t="t" r="r" b="b"/>
              <a:pathLst>
                <a:path w="3066796" h="477012">
                  <a:moveTo>
                    <a:pt x="0" y="126111"/>
                  </a:moveTo>
                  <a:cubicBezTo>
                    <a:pt x="0" y="56515"/>
                    <a:pt x="56515" y="0"/>
                    <a:pt x="126111" y="0"/>
                  </a:cubicBezTo>
                  <a:lnTo>
                    <a:pt x="2940685" y="0"/>
                  </a:lnTo>
                  <a:cubicBezTo>
                    <a:pt x="3010408" y="0"/>
                    <a:pt x="3066796" y="56515"/>
                    <a:pt x="3066796" y="126111"/>
                  </a:cubicBezTo>
                  <a:lnTo>
                    <a:pt x="3066796" y="350901"/>
                  </a:lnTo>
                  <a:cubicBezTo>
                    <a:pt x="3066796" y="420624"/>
                    <a:pt x="3010281" y="477012"/>
                    <a:pt x="2940685" y="477012"/>
                  </a:cubicBezTo>
                  <a:lnTo>
                    <a:pt x="126111" y="477012"/>
                  </a:lnTo>
                  <a:cubicBezTo>
                    <a:pt x="56515" y="477012"/>
                    <a:pt x="0" y="420497"/>
                    <a:pt x="0" y="350901"/>
                  </a:cubicBezTo>
                  <a:close/>
                </a:path>
              </a:pathLst>
            </a:custGeom>
            <a:blipFill>
              <a:blip r:embed="rId1">
                <a:alphaModFix amt="0"/>
              </a:blip>
              <a:stretch>
                <a:fillRect t="-75271" b="-75274"/>
              </a:stretch>
            </a:blipFill>
            <a:ln w="9532" cap="sq">
              <a:solidFill>
                <a:srgbClr val="3D7BFF"/>
              </a:solidFill>
              <a:prstDash val="solid"/>
              <a:miter/>
            </a:ln>
          </p:spPr>
        </p:sp>
      </p:grpSp>
      <p:sp>
        <p:nvSpPr>
          <p:cNvPr id="6" name="TextBox 6"/>
          <p:cNvSpPr txBox="1"/>
          <p:nvPr/>
        </p:nvSpPr>
        <p:spPr>
          <a:xfrm>
            <a:off x="883072" y="801176"/>
            <a:ext cx="2095946"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CHỌN CÁCH CHIA</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3215183" y="829751"/>
            <a:ext cx="3011729" cy="232962"/>
          </a:xfrm>
          <a:prstGeom prst="rect">
            <a:avLst/>
          </a:prstGeom>
        </p:spPr>
        <p:txBody>
          <a:bodyPr lIns="0" tIns="0" rIns="0" bIns="0" rtlCol="0" anchor="t">
            <a:spAutoFit/>
          </a:bodyPr>
          <a:lstStyle/>
          <a:p>
            <a:pPr algn="l">
              <a:lnSpc>
                <a:spcPts val="1990"/>
              </a:lnSpc>
            </a:pPr>
            <a:r>
              <a:rPr lang="en-US" sz="1725" spc="103">
                <a:solidFill>
                  <a:srgbClr val="9FB0CC"/>
                </a:solidFill>
                <a:latin typeface="Noto Sans" panose="020B0502040504020204"/>
                <a:ea typeface="Noto Sans" panose="020B0502040504020204"/>
                <a:cs typeface="Noto Sans" panose="020B0502040504020204"/>
                <a:sym typeface="Noto Sans" panose="020B0502040504020204"/>
              </a:rPr>
              <a:t>HAI TRƯỜNG HỢP</a:t>
            </a:r>
            <a:endParaRPr lang="en-US" sz="1725" spc="103">
              <a:solidFill>
                <a:srgbClr val="9FB0CC"/>
              </a:solidFill>
              <a:latin typeface="Noto Sans" panose="020B0502040504020204"/>
              <a:ea typeface="Noto Sans" panose="020B0502040504020204"/>
              <a:cs typeface="Noto Sans" panose="020B0502040504020204"/>
              <a:sym typeface="Noto Sans" panose="020B0502040504020204"/>
            </a:endParaRPr>
          </a:p>
        </p:txBody>
      </p:sp>
      <p:sp>
        <p:nvSpPr>
          <p:cNvPr id="8" name="TextBox 8"/>
          <p:cNvSpPr txBox="1"/>
          <p:nvPr/>
        </p:nvSpPr>
        <p:spPr>
          <a:xfrm>
            <a:off x="762635" y="1563370"/>
            <a:ext cx="10289540" cy="665480"/>
          </a:xfrm>
          <a:prstGeom prst="rect">
            <a:avLst/>
          </a:prstGeom>
        </p:spPr>
        <p:txBody>
          <a:bodyPr wrap="square" lIns="0" tIns="0" rIns="0" bIns="0" rtlCol="0" anchor="t">
            <a:spAutoFit/>
          </a:bodyPr>
          <a:lstStyle/>
          <a:p>
            <a:pPr algn="l">
              <a:lnSpc>
                <a:spcPts val="5190"/>
              </a:lnSpc>
            </a:pPr>
            <a:r>
              <a:rPr lang="en-US" sz="4805" b="1" spc="-96">
                <a:solidFill>
                  <a:srgbClr val="FFFFFF"/>
                </a:solidFill>
                <a:latin typeface="Arimo Bold" panose="020B0704020202020204"/>
                <a:ea typeface="Arimo Bold" panose="020B0704020202020204"/>
                <a:cs typeface="Arimo Bold" panose="020B0704020202020204"/>
                <a:sym typeface="Arimo Bold" panose="020B0704020202020204"/>
              </a:rPr>
              <a:t>Phân chia món &amp; Chi phí linh hoạt</a:t>
            </a:r>
            <a:endParaRPr lang="en-US" sz="4805" b="1" spc="-96">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9" name="Group 9"/>
          <p:cNvGrpSpPr/>
          <p:nvPr/>
        </p:nvGrpSpPr>
        <p:grpSpPr>
          <a:xfrm rot="0">
            <a:off x="743512" y="3370764"/>
            <a:ext cx="8083315" cy="4546530"/>
            <a:chOff x="0" y="0"/>
            <a:chExt cx="10777753" cy="6062040"/>
          </a:xfrm>
        </p:grpSpPr>
        <p:sp>
          <p:nvSpPr>
            <p:cNvPr id="10" name="Freeform 10"/>
            <p:cNvSpPr/>
            <p:nvPr/>
          </p:nvSpPr>
          <p:spPr>
            <a:xfrm>
              <a:off x="0" y="0"/>
              <a:ext cx="10777728" cy="6062091"/>
            </a:xfrm>
            <a:custGeom>
              <a:avLst/>
              <a:gdLst/>
              <a:ahLst/>
              <a:cxnLst/>
              <a:rect l="l" t="t" r="r" b="b"/>
              <a:pathLst>
                <a:path w="10777728" h="6062091">
                  <a:moveTo>
                    <a:pt x="0" y="0"/>
                  </a:moveTo>
                  <a:lnTo>
                    <a:pt x="10777728" y="0"/>
                  </a:lnTo>
                  <a:lnTo>
                    <a:pt x="10777728" y="6062091"/>
                  </a:lnTo>
                  <a:lnTo>
                    <a:pt x="0" y="6062091"/>
                  </a:lnTo>
                  <a:close/>
                </a:path>
              </a:pathLst>
            </a:custGeom>
            <a:blipFill>
              <a:blip r:embed="rId1">
                <a:alphaModFix amt="0"/>
              </a:blip>
              <a:stretch>
                <a:fillRect l="-22165" r="-22165"/>
              </a:stretch>
            </a:blipFill>
            <a:ln w="38128" cap="sq">
              <a:solidFill>
                <a:srgbClr val="EE5A45"/>
              </a:solidFill>
              <a:prstDash val="solid"/>
              <a:miter/>
            </a:ln>
          </p:spPr>
        </p:sp>
      </p:grpSp>
      <p:sp>
        <p:nvSpPr>
          <p:cNvPr id="11" name="TextBox 11"/>
          <p:cNvSpPr txBox="1"/>
          <p:nvPr/>
        </p:nvSpPr>
        <p:spPr>
          <a:xfrm>
            <a:off x="1220124" y="3837861"/>
            <a:ext cx="7587644" cy="294456"/>
          </a:xfrm>
          <a:prstGeom prst="rect">
            <a:avLst/>
          </a:prstGeom>
        </p:spPr>
        <p:txBody>
          <a:bodyPr lIns="0" tIns="0" rIns="0" bIns="0" rtlCol="0" anchor="t">
            <a:spAutoFit/>
          </a:bodyPr>
          <a:lstStyle/>
          <a:p>
            <a:pPr algn="l">
              <a:lnSpc>
                <a:spcPts val="2235"/>
              </a:lnSpc>
            </a:pPr>
            <a:r>
              <a:rPr lang="en-US" sz="1725" spc="103">
                <a:solidFill>
                  <a:srgbClr val="9FB0CC"/>
                </a:solidFill>
                <a:latin typeface="Noto Sans" panose="020B0502040504020204"/>
                <a:ea typeface="Noto Sans" panose="020B0502040504020204"/>
                <a:cs typeface="Noto Sans" panose="020B0502040504020204"/>
                <a:sym typeface="Noto Sans" panose="020B0502040504020204"/>
              </a:rPr>
              <a:t>MÓN CÁ NHÂN</a:t>
            </a:r>
            <a:endParaRPr lang="en-US" sz="1725" spc="103">
              <a:solidFill>
                <a:srgbClr val="9FB0CC"/>
              </a:solidFill>
              <a:latin typeface="Noto Sans" panose="020B0502040504020204"/>
              <a:ea typeface="Noto Sans" panose="020B0502040504020204"/>
              <a:cs typeface="Noto Sans" panose="020B0502040504020204"/>
              <a:sym typeface="Noto Sans" panose="020B0502040504020204"/>
            </a:endParaRPr>
          </a:p>
        </p:txBody>
      </p:sp>
      <p:sp>
        <p:nvSpPr>
          <p:cNvPr id="12" name="TextBox 12"/>
          <p:cNvSpPr txBox="1"/>
          <p:nvPr/>
        </p:nvSpPr>
        <p:spPr>
          <a:xfrm>
            <a:off x="1220124" y="4203849"/>
            <a:ext cx="7130091" cy="602285"/>
          </a:xfrm>
          <a:prstGeom prst="rect">
            <a:avLst/>
          </a:prstGeom>
        </p:spPr>
        <p:txBody>
          <a:bodyPr lIns="0" tIns="0" rIns="0" bIns="0" rtlCol="0" anchor="t">
            <a:spAutoFit/>
          </a:bodyPr>
          <a:lstStyle/>
          <a:p>
            <a:pPr algn="l">
              <a:lnSpc>
                <a:spcPts val="4280"/>
              </a:lnSpc>
            </a:pPr>
            <a:r>
              <a:rPr lang="en-US" sz="3300">
                <a:solidFill>
                  <a:srgbClr val="FFFFFF"/>
                </a:solidFill>
                <a:latin typeface="Arimo" panose="020B0604020202020204"/>
                <a:ea typeface="Arimo" panose="020B0604020202020204"/>
                <a:cs typeface="Arimo" panose="020B0604020202020204"/>
                <a:sym typeface="Arimo" panose="020B0604020202020204"/>
              </a:rPr>
              <a:t>Theo từng món</a:t>
            </a:r>
            <a:endParaRPr lang="en-US" sz="3300">
              <a:solidFill>
                <a:srgbClr val="FFFFFF"/>
              </a:solidFill>
              <a:latin typeface="Arimo" panose="020B0604020202020204"/>
              <a:ea typeface="Arimo" panose="020B0604020202020204"/>
              <a:cs typeface="Arimo" panose="020B0604020202020204"/>
              <a:sym typeface="Arimo" panose="020B0604020202020204"/>
            </a:endParaRPr>
          </a:p>
        </p:txBody>
      </p:sp>
      <p:sp>
        <p:nvSpPr>
          <p:cNvPr id="13" name="TextBox 13"/>
          <p:cNvSpPr txBox="1"/>
          <p:nvPr/>
        </p:nvSpPr>
        <p:spPr>
          <a:xfrm>
            <a:off x="1220124" y="4982537"/>
            <a:ext cx="7130091" cy="1418206"/>
          </a:xfrm>
          <a:prstGeom prst="rect">
            <a:avLst/>
          </a:prstGeom>
        </p:spPr>
        <p:txBody>
          <a:bodyPr lIns="0" tIns="0" rIns="0" bIns="0" rtlCol="0" anchor="t">
            <a:spAutoFit/>
          </a:bodyPr>
          <a:lstStyle/>
          <a:p>
            <a:pPr algn="l">
              <a:lnSpc>
                <a:spcPts val="3585"/>
              </a:lnSpc>
            </a:pPr>
            <a:r>
              <a:rPr lang="en-US" sz="2550">
                <a:solidFill>
                  <a:srgbClr val="D6DEEC"/>
                </a:solidFill>
                <a:latin typeface="Arimo" panose="020B0604020202020204"/>
                <a:ea typeface="Arimo" panose="020B0604020202020204"/>
                <a:cs typeface="Arimo" panose="020B0604020202020204"/>
                <a:sym typeface="Arimo" panose="020B0604020202020204"/>
              </a:rPr>
              <a:t>Gán món cho thành viên. Món nhiều phần có thể do một người nhận hết hoặc chia phần cho nhiều người.</a:t>
            </a:r>
            <a:endParaRPr lang="en-US" sz="2550">
              <a:solidFill>
                <a:srgbClr val="D6DEEC"/>
              </a:solidFill>
              <a:latin typeface="Arimo" panose="020B0604020202020204"/>
              <a:ea typeface="Arimo" panose="020B0604020202020204"/>
              <a:cs typeface="Arimo" panose="020B0604020202020204"/>
              <a:sym typeface="Arimo" panose="020B0604020202020204"/>
            </a:endParaRPr>
          </a:p>
        </p:txBody>
      </p:sp>
      <p:grpSp>
        <p:nvGrpSpPr>
          <p:cNvPr id="14" name="Group 14"/>
          <p:cNvGrpSpPr/>
          <p:nvPr/>
        </p:nvGrpSpPr>
        <p:grpSpPr>
          <a:xfrm rot="0">
            <a:off x="1220124" y="6670034"/>
            <a:ext cx="7130091" cy="47511"/>
            <a:chOff x="0" y="0"/>
            <a:chExt cx="9506788" cy="63348"/>
          </a:xfrm>
        </p:grpSpPr>
        <p:sp>
          <p:nvSpPr>
            <p:cNvPr id="15" name="Freeform 15"/>
            <p:cNvSpPr/>
            <p:nvPr/>
          </p:nvSpPr>
          <p:spPr>
            <a:xfrm>
              <a:off x="0" y="0"/>
              <a:ext cx="9506712" cy="63247"/>
            </a:xfrm>
            <a:custGeom>
              <a:avLst/>
              <a:gdLst/>
              <a:ahLst/>
              <a:cxnLst/>
              <a:rect l="l" t="t" r="r" b="b"/>
              <a:pathLst>
                <a:path w="9506712" h="63247">
                  <a:moveTo>
                    <a:pt x="0" y="31623"/>
                  </a:moveTo>
                  <a:cubicBezTo>
                    <a:pt x="0" y="14224"/>
                    <a:pt x="14224" y="0"/>
                    <a:pt x="31623" y="0"/>
                  </a:cubicBezTo>
                  <a:lnTo>
                    <a:pt x="9475089" y="0"/>
                  </a:lnTo>
                  <a:cubicBezTo>
                    <a:pt x="9492615" y="0"/>
                    <a:pt x="9506712" y="14224"/>
                    <a:pt x="9506712" y="31623"/>
                  </a:cubicBezTo>
                  <a:cubicBezTo>
                    <a:pt x="9506712" y="49149"/>
                    <a:pt x="9492488" y="63246"/>
                    <a:pt x="9475089" y="63246"/>
                  </a:cubicBezTo>
                  <a:lnTo>
                    <a:pt x="31623" y="63246"/>
                  </a:lnTo>
                  <a:cubicBezTo>
                    <a:pt x="14224" y="63373"/>
                    <a:pt x="0" y="49149"/>
                    <a:pt x="0" y="31623"/>
                  </a:cubicBezTo>
                  <a:close/>
                </a:path>
              </a:pathLst>
            </a:custGeom>
            <a:solidFill>
              <a:srgbClr val="22335C"/>
            </a:solidFill>
          </p:spPr>
        </p:sp>
      </p:grpSp>
      <p:sp>
        <p:nvSpPr>
          <p:cNvPr id="16" name="TextBox 16"/>
          <p:cNvSpPr txBox="1"/>
          <p:nvPr/>
        </p:nvSpPr>
        <p:spPr>
          <a:xfrm>
            <a:off x="1220124" y="6929838"/>
            <a:ext cx="7587644" cy="510835"/>
          </a:xfrm>
          <a:prstGeom prst="rect">
            <a:avLst/>
          </a:prstGeom>
        </p:spPr>
        <p:txBody>
          <a:bodyPr lIns="0" tIns="0" rIns="0" bIns="0" rtlCol="0" anchor="t">
            <a:spAutoFit/>
          </a:bodyPr>
          <a:lstStyle/>
          <a:p>
            <a:pPr algn="l">
              <a:lnSpc>
                <a:spcPts val="3585"/>
              </a:lnSpc>
            </a:pPr>
            <a:r>
              <a:rPr lang="en-US" sz="2550">
                <a:solidFill>
                  <a:srgbClr val="D6DEEC"/>
                </a:solidFill>
                <a:latin typeface="Arimo" panose="020B0604020202020204"/>
                <a:ea typeface="Arimo" panose="020B0604020202020204"/>
                <a:cs typeface="Arimo" panose="020B0604020202020204"/>
                <a:sym typeface="Arimo" panose="020B0604020202020204"/>
              </a:rPr>
              <a:t>Phí và giảm giá được tính vào phần phải trả.</a:t>
            </a:r>
            <a:endParaRPr lang="en-US" sz="2550">
              <a:solidFill>
                <a:srgbClr val="D6DEEC"/>
              </a:solidFill>
              <a:latin typeface="Arimo" panose="020B0604020202020204"/>
              <a:ea typeface="Arimo" panose="020B0604020202020204"/>
              <a:cs typeface="Arimo" panose="020B0604020202020204"/>
              <a:sym typeface="Arimo" panose="020B0604020202020204"/>
            </a:endParaRPr>
          </a:p>
        </p:txBody>
      </p:sp>
      <p:grpSp>
        <p:nvGrpSpPr>
          <p:cNvPr id="17" name="Group 17"/>
          <p:cNvGrpSpPr/>
          <p:nvPr/>
        </p:nvGrpSpPr>
        <p:grpSpPr>
          <a:xfrm rot="0">
            <a:off x="9475013" y="3370764"/>
            <a:ext cx="8083315" cy="4546530"/>
            <a:chOff x="0" y="0"/>
            <a:chExt cx="10777753" cy="6062040"/>
          </a:xfrm>
        </p:grpSpPr>
        <p:sp>
          <p:nvSpPr>
            <p:cNvPr id="18" name="Freeform 18"/>
            <p:cNvSpPr/>
            <p:nvPr/>
          </p:nvSpPr>
          <p:spPr>
            <a:xfrm>
              <a:off x="0" y="0"/>
              <a:ext cx="10777727" cy="6061964"/>
            </a:xfrm>
            <a:custGeom>
              <a:avLst/>
              <a:gdLst/>
              <a:ahLst/>
              <a:cxnLst/>
              <a:rect l="l" t="t" r="r" b="b"/>
              <a:pathLst>
                <a:path w="10777727" h="6061964">
                  <a:moveTo>
                    <a:pt x="0" y="183007"/>
                  </a:moveTo>
                  <a:cubicBezTo>
                    <a:pt x="0" y="81915"/>
                    <a:pt x="81915" y="0"/>
                    <a:pt x="183007" y="0"/>
                  </a:cubicBezTo>
                  <a:lnTo>
                    <a:pt x="10594721" y="0"/>
                  </a:lnTo>
                  <a:cubicBezTo>
                    <a:pt x="10695813" y="0"/>
                    <a:pt x="10777727" y="81915"/>
                    <a:pt x="10777727" y="183007"/>
                  </a:cubicBezTo>
                  <a:lnTo>
                    <a:pt x="10777727" y="5878957"/>
                  </a:lnTo>
                  <a:cubicBezTo>
                    <a:pt x="10777727" y="5980049"/>
                    <a:pt x="10695813" y="6061964"/>
                    <a:pt x="10594721" y="6061964"/>
                  </a:cubicBezTo>
                  <a:lnTo>
                    <a:pt x="183007" y="6061964"/>
                  </a:lnTo>
                  <a:cubicBezTo>
                    <a:pt x="81915" y="6062091"/>
                    <a:pt x="0" y="5980049"/>
                    <a:pt x="0" y="5879084"/>
                  </a:cubicBezTo>
                  <a:close/>
                </a:path>
              </a:pathLst>
            </a:custGeom>
            <a:solidFill>
              <a:srgbClr val="E3ECFF"/>
            </a:solidFill>
            <a:ln w="38128" cap="sq">
              <a:solidFill>
                <a:srgbClr val="EE5A45"/>
              </a:solidFill>
              <a:prstDash val="solid"/>
              <a:miter/>
            </a:ln>
          </p:spPr>
        </p:sp>
      </p:grpSp>
      <p:sp>
        <p:nvSpPr>
          <p:cNvPr id="19" name="TextBox 19"/>
          <p:cNvSpPr txBox="1"/>
          <p:nvPr/>
        </p:nvSpPr>
        <p:spPr>
          <a:xfrm>
            <a:off x="9951625" y="3837861"/>
            <a:ext cx="7587644" cy="294456"/>
          </a:xfrm>
          <a:prstGeom prst="rect">
            <a:avLst/>
          </a:prstGeom>
        </p:spPr>
        <p:txBody>
          <a:bodyPr lIns="0" tIns="0" rIns="0" bIns="0" rtlCol="0" anchor="t">
            <a:spAutoFit/>
          </a:bodyPr>
          <a:lstStyle/>
          <a:p>
            <a:pPr algn="l">
              <a:lnSpc>
                <a:spcPts val="2235"/>
              </a:lnSpc>
            </a:pPr>
            <a:r>
              <a:rPr lang="en-US" sz="1725" spc="103">
                <a:solidFill>
                  <a:srgbClr val="000000"/>
                </a:solidFill>
                <a:latin typeface="Noto Sans" panose="020B0502040504020204"/>
                <a:ea typeface="Noto Sans" panose="020B0502040504020204"/>
                <a:cs typeface="Noto Sans" panose="020B0502040504020204"/>
                <a:sym typeface="Noto Sans" panose="020B0502040504020204"/>
              </a:rPr>
              <a:t>CHI PHÍ CHUNG</a:t>
            </a:r>
            <a:endParaRPr lang="en-US" sz="1725" spc="103">
              <a:solidFill>
                <a:srgbClr val="000000"/>
              </a:solidFill>
              <a:latin typeface="Noto Sans" panose="020B0502040504020204"/>
              <a:ea typeface="Noto Sans" panose="020B0502040504020204"/>
              <a:cs typeface="Noto Sans" panose="020B0502040504020204"/>
              <a:sym typeface="Noto Sans" panose="020B0502040504020204"/>
            </a:endParaRPr>
          </a:p>
        </p:txBody>
      </p:sp>
      <p:sp>
        <p:nvSpPr>
          <p:cNvPr id="20" name="TextBox 20"/>
          <p:cNvSpPr txBox="1"/>
          <p:nvPr/>
        </p:nvSpPr>
        <p:spPr>
          <a:xfrm>
            <a:off x="9951625" y="4203849"/>
            <a:ext cx="7130091" cy="602285"/>
          </a:xfrm>
          <a:prstGeom prst="rect">
            <a:avLst/>
          </a:prstGeom>
        </p:spPr>
        <p:txBody>
          <a:bodyPr lIns="0" tIns="0" rIns="0" bIns="0" rtlCol="0" anchor="t">
            <a:spAutoFit/>
          </a:bodyPr>
          <a:lstStyle/>
          <a:p>
            <a:pPr algn="l">
              <a:lnSpc>
                <a:spcPts val="4280"/>
              </a:lnSpc>
            </a:pPr>
            <a:r>
              <a:rPr lang="en-US" sz="3300">
                <a:solidFill>
                  <a:srgbClr val="000000"/>
                </a:solidFill>
                <a:latin typeface="Arimo" panose="020B0604020202020204"/>
                <a:ea typeface="Arimo" panose="020B0604020202020204"/>
                <a:cs typeface="Arimo" panose="020B0604020202020204"/>
                <a:sym typeface="Arimo" panose="020B0604020202020204"/>
              </a:rPr>
              <a:t>Sinh nhật, liên hoan</a:t>
            </a:r>
            <a:endParaRPr lang="en-US" sz="3300">
              <a:solidFill>
                <a:srgbClr val="000000"/>
              </a:solidFill>
              <a:latin typeface="Arimo" panose="020B0604020202020204"/>
              <a:ea typeface="Arimo" panose="020B0604020202020204"/>
              <a:cs typeface="Arimo" panose="020B0604020202020204"/>
              <a:sym typeface="Arimo" panose="020B0604020202020204"/>
            </a:endParaRPr>
          </a:p>
        </p:txBody>
      </p:sp>
      <p:sp>
        <p:nvSpPr>
          <p:cNvPr id="21" name="TextBox 21"/>
          <p:cNvSpPr txBox="1"/>
          <p:nvPr/>
        </p:nvSpPr>
        <p:spPr>
          <a:xfrm>
            <a:off x="9951625" y="4982537"/>
            <a:ext cx="7130091" cy="964521"/>
          </a:xfrm>
          <a:prstGeom prst="rect">
            <a:avLst/>
          </a:prstGeom>
        </p:spPr>
        <p:txBody>
          <a:bodyPr lIns="0" tIns="0" rIns="0" bIns="0" rtlCol="0" anchor="t">
            <a:spAutoFit/>
          </a:bodyPr>
          <a:lstStyle/>
          <a:p>
            <a:pPr algn="l">
              <a:lnSpc>
                <a:spcPts val="3585"/>
              </a:lnSpc>
            </a:pPr>
            <a:r>
              <a:rPr lang="en-US" sz="2550">
                <a:solidFill>
                  <a:srgbClr val="000000"/>
                </a:solidFill>
                <a:latin typeface="Arimo" panose="020B0604020202020204"/>
                <a:ea typeface="Arimo" panose="020B0604020202020204"/>
                <a:cs typeface="Arimo" panose="020B0604020202020204"/>
                <a:sym typeface="Arimo" panose="020B0604020202020204"/>
              </a:rPr>
              <a:t>Dùng cho khoản không gắn với món cụ thể. Chia đều hoặc nhập phần tiền từng người.</a:t>
            </a:r>
            <a:endParaRPr lang="en-US" sz="2550">
              <a:solidFill>
                <a:srgbClr val="000000"/>
              </a:solidFill>
              <a:latin typeface="Arimo" panose="020B0604020202020204"/>
              <a:ea typeface="Arimo" panose="020B0604020202020204"/>
              <a:cs typeface="Arimo" panose="020B0604020202020204"/>
              <a:sym typeface="Arimo" panose="020B0604020202020204"/>
            </a:endParaRPr>
          </a:p>
        </p:txBody>
      </p:sp>
      <p:grpSp>
        <p:nvGrpSpPr>
          <p:cNvPr id="22" name="Group 22"/>
          <p:cNvGrpSpPr/>
          <p:nvPr/>
        </p:nvGrpSpPr>
        <p:grpSpPr>
          <a:xfrm rot="0">
            <a:off x="9951625" y="6216348"/>
            <a:ext cx="7130091" cy="47511"/>
            <a:chOff x="0" y="0"/>
            <a:chExt cx="9506788" cy="63348"/>
          </a:xfrm>
        </p:grpSpPr>
        <p:sp>
          <p:nvSpPr>
            <p:cNvPr id="23" name="Freeform 23"/>
            <p:cNvSpPr/>
            <p:nvPr/>
          </p:nvSpPr>
          <p:spPr>
            <a:xfrm>
              <a:off x="0" y="0"/>
              <a:ext cx="9506712" cy="63247"/>
            </a:xfrm>
            <a:custGeom>
              <a:avLst/>
              <a:gdLst/>
              <a:ahLst/>
              <a:cxnLst/>
              <a:rect l="l" t="t" r="r" b="b"/>
              <a:pathLst>
                <a:path w="9506712" h="63247">
                  <a:moveTo>
                    <a:pt x="0" y="31623"/>
                  </a:moveTo>
                  <a:cubicBezTo>
                    <a:pt x="0" y="14224"/>
                    <a:pt x="14224" y="0"/>
                    <a:pt x="31623" y="0"/>
                  </a:cubicBezTo>
                  <a:lnTo>
                    <a:pt x="9475089" y="0"/>
                  </a:lnTo>
                  <a:cubicBezTo>
                    <a:pt x="9492615" y="0"/>
                    <a:pt x="9506712" y="14224"/>
                    <a:pt x="9506712" y="31623"/>
                  </a:cubicBezTo>
                  <a:cubicBezTo>
                    <a:pt x="9506712" y="49149"/>
                    <a:pt x="9492488" y="63246"/>
                    <a:pt x="9475089" y="63246"/>
                  </a:cubicBezTo>
                  <a:lnTo>
                    <a:pt x="31623" y="63246"/>
                  </a:lnTo>
                  <a:cubicBezTo>
                    <a:pt x="14224" y="63373"/>
                    <a:pt x="0" y="49149"/>
                    <a:pt x="0" y="31623"/>
                  </a:cubicBezTo>
                  <a:close/>
                </a:path>
              </a:pathLst>
            </a:custGeom>
            <a:solidFill>
              <a:srgbClr val="22335C"/>
            </a:solidFill>
          </p:spPr>
        </p:sp>
      </p:grpSp>
      <p:sp>
        <p:nvSpPr>
          <p:cNvPr id="24" name="TextBox 24"/>
          <p:cNvSpPr txBox="1"/>
          <p:nvPr/>
        </p:nvSpPr>
        <p:spPr>
          <a:xfrm>
            <a:off x="9951625" y="6476152"/>
            <a:ext cx="7130091" cy="964521"/>
          </a:xfrm>
          <a:prstGeom prst="rect">
            <a:avLst/>
          </a:prstGeom>
        </p:spPr>
        <p:txBody>
          <a:bodyPr lIns="0" tIns="0" rIns="0" bIns="0" rtlCol="0" anchor="t">
            <a:spAutoFit/>
          </a:bodyPr>
          <a:lstStyle/>
          <a:p>
            <a:pPr algn="l">
              <a:lnSpc>
                <a:spcPts val="3585"/>
              </a:lnSpc>
            </a:pPr>
            <a:r>
              <a:rPr lang="en-US" sz="2550">
                <a:solidFill>
                  <a:srgbClr val="000000"/>
                </a:solidFill>
                <a:latin typeface="Arimo" panose="020B0604020202020204"/>
                <a:ea typeface="Arimo" panose="020B0604020202020204"/>
                <a:cs typeface="Arimo" panose="020B0604020202020204"/>
                <a:sym typeface="Arimo" panose="020B0604020202020204"/>
              </a:rPr>
              <a:t>Có thể loại người được tổ chức khỏi danh sách đóng góp.</a:t>
            </a:r>
            <a:endParaRPr lang="en-US" sz="2550">
              <a:solidFill>
                <a:srgbClr val="000000"/>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1081907" y="757828"/>
            <a:ext cx="1636566" cy="357769"/>
            <a:chOff x="0" y="0"/>
            <a:chExt cx="2182089" cy="477025"/>
          </a:xfrm>
        </p:grpSpPr>
        <p:sp>
          <p:nvSpPr>
            <p:cNvPr id="5" name="Freeform 5"/>
            <p:cNvSpPr/>
            <p:nvPr/>
          </p:nvSpPr>
          <p:spPr>
            <a:xfrm>
              <a:off x="0" y="0"/>
              <a:ext cx="2182114" cy="477012"/>
            </a:xfrm>
            <a:custGeom>
              <a:avLst/>
              <a:gdLst/>
              <a:ahLst/>
              <a:cxnLst/>
              <a:rect l="l" t="t" r="r" b="b"/>
              <a:pathLst>
                <a:path w="2182114" h="477012">
                  <a:moveTo>
                    <a:pt x="0" y="126111"/>
                  </a:moveTo>
                  <a:cubicBezTo>
                    <a:pt x="0" y="56515"/>
                    <a:pt x="56515" y="0"/>
                    <a:pt x="126111" y="0"/>
                  </a:cubicBezTo>
                  <a:lnTo>
                    <a:pt x="2056003" y="0"/>
                  </a:lnTo>
                  <a:cubicBezTo>
                    <a:pt x="2125726" y="0"/>
                    <a:pt x="2182114" y="56515"/>
                    <a:pt x="2182114" y="126111"/>
                  </a:cubicBezTo>
                  <a:lnTo>
                    <a:pt x="2182114" y="350901"/>
                  </a:lnTo>
                  <a:cubicBezTo>
                    <a:pt x="2182114" y="420624"/>
                    <a:pt x="2125599" y="477012"/>
                    <a:pt x="2056003" y="477012"/>
                  </a:cubicBezTo>
                  <a:lnTo>
                    <a:pt x="126111" y="477012"/>
                  </a:lnTo>
                  <a:cubicBezTo>
                    <a:pt x="56515" y="477012"/>
                    <a:pt x="0" y="420497"/>
                    <a:pt x="0" y="350901"/>
                  </a:cubicBezTo>
                  <a:close/>
                </a:path>
              </a:pathLst>
            </a:custGeom>
            <a:blipFill>
              <a:blip r:embed="rId1">
                <a:alphaModFix amt="0"/>
              </a:blip>
              <a:stretch>
                <a:fillRect t="-39132" r="1" b="-39135"/>
              </a:stretch>
            </a:blipFill>
            <a:ln w="9532" cap="sq">
              <a:solidFill>
                <a:srgbClr val="3D7BFF"/>
              </a:solidFill>
              <a:prstDash val="solid"/>
              <a:miter/>
            </a:ln>
          </p:spPr>
        </p:sp>
      </p:grpSp>
      <p:sp>
        <p:nvSpPr>
          <p:cNvPr id="6" name="TextBox 6"/>
          <p:cNvSpPr txBox="1"/>
          <p:nvPr/>
        </p:nvSpPr>
        <p:spPr>
          <a:xfrm>
            <a:off x="1207160" y="801176"/>
            <a:ext cx="1390501"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LƯU &amp; CHIA</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755650" y="1522095"/>
            <a:ext cx="9440545" cy="665480"/>
          </a:xfrm>
          <a:prstGeom prst="rect">
            <a:avLst/>
          </a:prstGeom>
        </p:spPr>
        <p:txBody>
          <a:bodyPr wrap="square" lIns="0" tIns="0" rIns="0" bIns="0" rtlCol="0" anchor="t">
            <a:spAutoFit/>
          </a:bodyPr>
          <a:lstStyle/>
          <a:p>
            <a:pPr algn="l">
              <a:lnSpc>
                <a:spcPts val="5190"/>
              </a:lnSpc>
            </a:pPr>
            <a:r>
              <a:rPr lang="en-US" sz="4805" b="1" spc="-96">
                <a:solidFill>
                  <a:srgbClr val="FFFFFF"/>
                </a:solidFill>
                <a:latin typeface="Arimo Bold" panose="020B0704020202020204"/>
                <a:ea typeface="Arimo Bold" panose="020B0704020202020204"/>
                <a:cs typeface="Arimo Bold" panose="020B0704020202020204"/>
                <a:sym typeface="Arimo Bold" panose="020B0704020202020204"/>
              </a:rPr>
              <a:t>Link tự nhận món nhanh chóng</a:t>
            </a:r>
            <a:endParaRPr lang="en-US" sz="4805" b="1" spc="-96">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8" name="Group 8"/>
          <p:cNvGrpSpPr/>
          <p:nvPr/>
        </p:nvGrpSpPr>
        <p:grpSpPr>
          <a:xfrm rot="0">
            <a:off x="762581" y="2852474"/>
            <a:ext cx="16670236" cy="5347395"/>
            <a:chOff x="0" y="0"/>
            <a:chExt cx="22226981" cy="7129860"/>
          </a:xfrm>
        </p:grpSpPr>
        <p:sp>
          <p:nvSpPr>
            <p:cNvPr id="9" name="Freeform 9"/>
            <p:cNvSpPr/>
            <p:nvPr/>
          </p:nvSpPr>
          <p:spPr>
            <a:xfrm>
              <a:off x="0" y="0"/>
              <a:ext cx="22226955" cy="7129835"/>
            </a:xfrm>
            <a:custGeom>
              <a:avLst/>
              <a:gdLst/>
              <a:ahLst/>
              <a:cxnLst/>
              <a:rect l="l" t="t" r="r" b="b"/>
              <a:pathLst>
                <a:path w="22226955" h="7129835">
                  <a:moveTo>
                    <a:pt x="0" y="0"/>
                  </a:moveTo>
                  <a:lnTo>
                    <a:pt x="22226955" y="0"/>
                  </a:lnTo>
                  <a:lnTo>
                    <a:pt x="22226955" y="7129835"/>
                  </a:lnTo>
                  <a:lnTo>
                    <a:pt x="0" y="7129835"/>
                  </a:lnTo>
                  <a:lnTo>
                    <a:pt x="0" y="0"/>
                  </a:lnTo>
                  <a:close/>
                </a:path>
              </a:pathLst>
            </a:custGeom>
            <a:blipFill>
              <a:blip r:embed="rId2"/>
              <a:stretch>
                <a:fillRect t="-1438" b="-1438"/>
              </a:stretch>
            </a:blipFill>
          </p:spPr>
          <p:txBody>
            <a:bodyPr/>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2603630" cy="357769"/>
            <a:chOff x="0" y="0"/>
            <a:chExt cx="3471507" cy="477025"/>
          </a:xfrm>
        </p:grpSpPr>
        <p:sp>
          <p:nvSpPr>
            <p:cNvPr id="5" name="Freeform 5"/>
            <p:cNvSpPr/>
            <p:nvPr/>
          </p:nvSpPr>
          <p:spPr>
            <a:xfrm>
              <a:off x="0" y="0"/>
              <a:ext cx="3471545" cy="477012"/>
            </a:xfrm>
            <a:custGeom>
              <a:avLst/>
              <a:gdLst/>
              <a:ahLst/>
              <a:cxnLst/>
              <a:rect l="l" t="t" r="r" b="b"/>
              <a:pathLst>
                <a:path w="3471545" h="477012">
                  <a:moveTo>
                    <a:pt x="0" y="126111"/>
                  </a:moveTo>
                  <a:cubicBezTo>
                    <a:pt x="0" y="56515"/>
                    <a:pt x="56515" y="0"/>
                    <a:pt x="126111" y="0"/>
                  </a:cubicBezTo>
                  <a:lnTo>
                    <a:pt x="3345434" y="0"/>
                  </a:lnTo>
                  <a:cubicBezTo>
                    <a:pt x="3415157" y="0"/>
                    <a:pt x="3471545" y="56515"/>
                    <a:pt x="3471545" y="126111"/>
                  </a:cubicBezTo>
                  <a:lnTo>
                    <a:pt x="3471545" y="350901"/>
                  </a:lnTo>
                  <a:cubicBezTo>
                    <a:pt x="3471545" y="420624"/>
                    <a:pt x="3415030" y="477012"/>
                    <a:pt x="3345434" y="477012"/>
                  </a:cubicBezTo>
                  <a:lnTo>
                    <a:pt x="126111" y="477012"/>
                  </a:lnTo>
                  <a:cubicBezTo>
                    <a:pt x="56515" y="477012"/>
                    <a:pt x="0" y="420497"/>
                    <a:pt x="0" y="350901"/>
                  </a:cubicBezTo>
                  <a:close/>
                </a:path>
              </a:pathLst>
            </a:custGeom>
            <a:blipFill>
              <a:blip r:embed="rId1">
                <a:alphaModFix amt="0"/>
              </a:blip>
              <a:stretch>
                <a:fillRect t="-91803" r="1" b="-91805"/>
              </a:stretch>
            </a:blipFill>
            <a:ln w="9532" cap="sq">
              <a:solidFill>
                <a:srgbClr val="3D7BFF"/>
              </a:solidFill>
              <a:prstDash val="solid"/>
              <a:miter/>
            </a:ln>
          </p:spPr>
        </p:sp>
      </p:grpSp>
      <p:sp>
        <p:nvSpPr>
          <p:cNvPr id="6" name="TextBox 6"/>
          <p:cNvSpPr txBox="1"/>
          <p:nvPr/>
        </p:nvSpPr>
        <p:spPr>
          <a:xfrm>
            <a:off x="883072" y="801176"/>
            <a:ext cx="2395389"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THEO DÕI CÔNG NỢ</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3518726" y="801176"/>
            <a:ext cx="2769840" cy="267699"/>
          </a:xfrm>
          <a:prstGeom prst="rect">
            <a:avLst/>
          </a:prstGeom>
        </p:spPr>
        <p:txBody>
          <a:bodyPr lIns="0" tIns="0" rIns="0" bIns="0" rtlCol="0" anchor="t">
            <a:spAutoFit/>
          </a:bodyPr>
          <a:lstStyle/>
          <a:p>
            <a:pPr algn="l">
              <a:lnSpc>
                <a:spcPts val="1990"/>
              </a:lnSpc>
            </a:pPr>
            <a:r>
              <a:rPr lang="en-US" sz="1725" spc="103">
                <a:solidFill>
                  <a:srgbClr val="9FB0CC"/>
                </a:solidFill>
                <a:latin typeface="Arimo" panose="020B0604020202020204"/>
                <a:ea typeface="Arimo" panose="020B0604020202020204"/>
                <a:cs typeface="Arimo" panose="020B0604020202020204"/>
                <a:sym typeface="Arimo" panose="020B0604020202020204"/>
              </a:rPr>
              <a:t>TELEGRAM / WEBHOOK</a:t>
            </a:r>
            <a:endParaRPr lang="en-US" sz="1725" spc="103">
              <a:solidFill>
                <a:srgbClr val="9FB0CC"/>
              </a:solidFill>
              <a:latin typeface="Arimo" panose="020B0604020202020204"/>
              <a:ea typeface="Arimo" panose="020B0604020202020204"/>
              <a:cs typeface="Arimo" panose="020B0604020202020204"/>
              <a:sym typeface="Arimo" panose="020B0604020202020204"/>
            </a:endParaRPr>
          </a:p>
        </p:txBody>
      </p:sp>
      <p:sp>
        <p:nvSpPr>
          <p:cNvPr id="8" name="TextBox 8"/>
          <p:cNvSpPr txBox="1"/>
          <p:nvPr/>
        </p:nvSpPr>
        <p:spPr>
          <a:xfrm>
            <a:off x="755656" y="1506269"/>
            <a:ext cx="11522273" cy="692334"/>
          </a:xfrm>
          <a:prstGeom prst="rect">
            <a:avLst/>
          </a:prstGeom>
        </p:spPr>
        <p:txBody>
          <a:bodyPr lIns="0" tIns="0" rIns="0" bIns="0" rtlCol="0" anchor="t">
            <a:spAutoFit/>
          </a:bodyPr>
          <a:lstStyle/>
          <a:p>
            <a:pPr algn="l">
              <a:lnSpc>
                <a:spcPts val="5190"/>
              </a:lnSpc>
            </a:pPr>
            <a:r>
              <a:rPr lang="en-US" sz="4805" b="1" spc="-96">
                <a:solidFill>
                  <a:srgbClr val="FFFFFF"/>
                </a:solidFill>
                <a:latin typeface="Arimo Bold" panose="020B0704020202020204"/>
                <a:ea typeface="Arimo Bold" panose="020B0704020202020204"/>
                <a:cs typeface="Arimo Bold" panose="020B0704020202020204"/>
                <a:sym typeface="Arimo Bold" panose="020B0704020202020204"/>
              </a:rPr>
              <a:t>Quản lí công nợ &amp; nhắc nợ qua Telegram</a:t>
            </a:r>
            <a:endParaRPr lang="en-US" sz="4805" b="1" spc="-96">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9" name="Group 9"/>
          <p:cNvGrpSpPr/>
          <p:nvPr/>
        </p:nvGrpSpPr>
        <p:grpSpPr>
          <a:xfrm rot="0">
            <a:off x="1028700" y="2388956"/>
            <a:ext cx="13720263" cy="5245227"/>
            <a:chOff x="0" y="0"/>
            <a:chExt cx="18293684" cy="6993636"/>
          </a:xfrm>
        </p:grpSpPr>
        <p:sp>
          <p:nvSpPr>
            <p:cNvPr id="10" name="Freeform 10"/>
            <p:cNvSpPr/>
            <p:nvPr/>
          </p:nvSpPr>
          <p:spPr>
            <a:xfrm>
              <a:off x="0" y="0"/>
              <a:ext cx="18293629" cy="6993636"/>
            </a:xfrm>
            <a:custGeom>
              <a:avLst/>
              <a:gdLst/>
              <a:ahLst/>
              <a:cxnLst/>
              <a:rect l="l" t="t" r="r" b="b"/>
              <a:pathLst>
                <a:path w="18293629" h="6993636">
                  <a:moveTo>
                    <a:pt x="0" y="0"/>
                  </a:moveTo>
                  <a:lnTo>
                    <a:pt x="18293629" y="0"/>
                  </a:lnTo>
                  <a:lnTo>
                    <a:pt x="18293629" y="6993636"/>
                  </a:lnTo>
                  <a:lnTo>
                    <a:pt x="0" y="6993636"/>
                  </a:lnTo>
                  <a:lnTo>
                    <a:pt x="0" y="0"/>
                  </a:lnTo>
                  <a:close/>
                </a:path>
              </a:pathLst>
            </a:custGeom>
            <a:blipFill>
              <a:blip r:embed="rId2"/>
              <a:stretch>
                <a:fillRect t="-23241" b="-23241"/>
              </a:stretch>
            </a:blipFill>
          </p:spPr>
        </p:sp>
      </p:grpSp>
      <p:sp>
        <p:nvSpPr>
          <p:cNvPr id="11" name="TextBox 11"/>
          <p:cNvSpPr txBox="1"/>
          <p:nvPr/>
        </p:nvSpPr>
        <p:spPr>
          <a:xfrm>
            <a:off x="762581" y="7825140"/>
            <a:ext cx="16776687" cy="1580255"/>
          </a:xfrm>
          <a:prstGeom prst="rect">
            <a:avLst/>
          </a:prstGeom>
        </p:spPr>
        <p:txBody>
          <a:bodyPr lIns="0" tIns="0" rIns="0" bIns="0" rtlCol="0" anchor="t">
            <a:spAutoFit/>
          </a:bodyPr>
          <a:lstStyle/>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Lịch sử ghi người ứng tiền, phải trả, đã trả và còn nợ.</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Ghi nhận thanh toán một phần hoặc toàn bộ.</a:t>
            </a:r>
            <a:endParaRPr lang="en-US" sz="2550">
              <a:solidFill>
                <a:srgbClr val="D6DEEC"/>
              </a:solidFill>
              <a:latin typeface="Arimo" panose="020B0604020202020204"/>
              <a:ea typeface="Arimo" panose="020B0604020202020204"/>
              <a:cs typeface="Arimo" panose="020B0604020202020204"/>
              <a:sym typeface="Arimo" panose="020B0604020202020204"/>
            </a:endParaRPr>
          </a:p>
          <a:p>
            <a:pPr marL="462280" lvl="1" indent="-231140" algn="l">
              <a:lnSpc>
                <a:spcPts val="3585"/>
              </a:lnSpc>
              <a:buFont typeface="Arial" panose="020B0604020202020204"/>
              <a:buChar char="•"/>
            </a:pPr>
            <a:r>
              <a:rPr lang="en-US" sz="2550">
                <a:solidFill>
                  <a:srgbClr val="D6DEEC"/>
                </a:solidFill>
                <a:latin typeface="Arimo" panose="020B0604020202020204"/>
                <a:ea typeface="Arimo" panose="020B0604020202020204"/>
                <a:cs typeface="Arimo" panose="020B0604020202020204"/>
                <a:sym typeface="Arimo" panose="020B0604020202020204"/>
              </a:rPr>
              <a:t>Nhắc qua Telegram hoặc webhook; xem lại lịch sử nhắc.</a:t>
            </a:r>
            <a:endParaRPr lang="en-US" sz="2550">
              <a:solidFill>
                <a:srgbClr val="D6DEEC"/>
              </a:solidFill>
              <a:latin typeface="Arimo" panose="020B0604020202020204"/>
              <a:ea typeface="Arimo" panose="020B0604020202020204"/>
              <a:cs typeface="Arimo" panose="020B0604020202020204"/>
              <a:sym typeface="Arimo" panose="020B0604020202020204"/>
            </a:endParaRPr>
          </a:p>
        </p:txBody>
      </p:sp>
      <p:sp>
        <p:nvSpPr>
          <p:cNvPr id="12" name="TextBox 12"/>
          <p:cNvSpPr txBox="1"/>
          <p:nvPr/>
        </p:nvSpPr>
        <p:spPr>
          <a:xfrm>
            <a:off x="762581" y="9638986"/>
            <a:ext cx="17539268" cy="457514"/>
          </a:xfrm>
          <a:prstGeom prst="rect">
            <a:avLst/>
          </a:prstGeom>
        </p:spPr>
        <p:txBody>
          <a:bodyPr lIns="0" tIns="0" rIns="0" bIns="0" rtlCol="0" anchor="t">
            <a:spAutoFit/>
          </a:bodyPr>
          <a:lstStyle/>
          <a:p>
            <a:pPr algn="l">
              <a:lnSpc>
                <a:spcPts val="3160"/>
              </a:lnSpc>
            </a:pPr>
            <a:r>
              <a:rPr lang="en-US" sz="2250">
                <a:solidFill>
                  <a:srgbClr val="EE5A45"/>
                </a:solidFill>
                <a:latin typeface="Arimo" panose="020B0604020202020204"/>
                <a:ea typeface="Arimo" panose="020B0604020202020204"/>
                <a:cs typeface="Arimo" panose="020B0604020202020204"/>
                <a:sym typeface="Arimo" panose="020B0604020202020204"/>
              </a:rPr>
              <a:t>Bấm nút để gửi, chưa có lịch tự động.</a:t>
            </a:r>
            <a:r>
              <a:rPr lang="en-US" sz="2250">
                <a:solidFill>
                  <a:srgbClr val="D6DEEC"/>
                </a:solidFill>
                <a:latin typeface="Arimo" panose="020B0604020202020204"/>
                <a:ea typeface="Arimo" panose="020B0604020202020204"/>
                <a:cs typeface="Arimo" panose="020B0604020202020204"/>
                <a:sym typeface="Arimo" panose="020B0604020202020204"/>
              </a:rPr>
              <a:t> Xác nhận lại nếu đơn đã được nhắc trong 30 phút gần nhất.</a:t>
            </a:r>
            <a:endParaRPr lang="en-US" sz="2250">
              <a:solidFill>
                <a:srgbClr val="D6DEEC"/>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33"/>
        </a:solidFill>
        <a:effectLst/>
      </p:bgPr>
    </p:bg>
    <p:spTree>
      <p:nvGrpSpPr>
        <p:cNvPr id="1" name=""/>
        <p:cNvGrpSpPr/>
        <p:nvPr/>
      </p:nvGrpSpPr>
      <p:grpSpPr>
        <a:xfrm>
          <a:off x="0" y="0"/>
          <a:ext cx="0" cy="0"/>
          <a:chOff x="0" y="0"/>
          <a:chExt cx="0" cy="0"/>
        </a:xfrm>
      </p:grpSpPr>
      <p:grpSp>
        <p:nvGrpSpPr>
          <p:cNvPr id="2" name="Group 2"/>
          <p:cNvGrpSpPr/>
          <p:nvPr/>
        </p:nvGrpSpPr>
        <p:grpSpPr>
          <a:xfrm rot="0">
            <a:off x="762581" y="1187091"/>
            <a:ext cx="16776687" cy="19069"/>
            <a:chOff x="0" y="0"/>
            <a:chExt cx="22368916" cy="25425"/>
          </a:xfrm>
        </p:grpSpPr>
        <p:sp>
          <p:nvSpPr>
            <p:cNvPr id="3" name="Freeform 3"/>
            <p:cNvSpPr/>
            <p:nvPr/>
          </p:nvSpPr>
          <p:spPr>
            <a:xfrm>
              <a:off x="0" y="0"/>
              <a:ext cx="22368890" cy="25400"/>
            </a:xfrm>
            <a:custGeom>
              <a:avLst/>
              <a:gdLst/>
              <a:ahLst/>
              <a:cxnLst/>
              <a:rect l="l" t="t" r="r" b="b"/>
              <a:pathLst>
                <a:path w="22368890" h="25400">
                  <a:moveTo>
                    <a:pt x="0" y="0"/>
                  </a:moveTo>
                  <a:lnTo>
                    <a:pt x="22368890" y="0"/>
                  </a:lnTo>
                  <a:lnTo>
                    <a:pt x="22368890" y="25400"/>
                  </a:lnTo>
                  <a:lnTo>
                    <a:pt x="0" y="25400"/>
                  </a:lnTo>
                  <a:close/>
                </a:path>
              </a:pathLst>
            </a:custGeom>
            <a:solidFill>
              <a:srgbClr val="D6DEEC">
                <a:alpha val="4706"/>
              </a:srgbClr>
            </a:solidFill>
          </p:spPr>
        </p:sp>
      </p:grpSp>
      <p:grpSp>
        <p:nvGrpSpPr>
          <p:cNvPr id="4" name="Group 4"/>
          <p:cNvGrpSpPr/>
          <p:nvPr/>
        </p:nvGrpSpPr>
        <p:grpSpPr>
          <a:xfrm rot="0">
            <a:off x="757809" y="757828"/>
            <a:ext cx="3232461" cy="357769"/>
            <a:chOff x="0" y="0"/>
            <a:chExt cx="4309948" cy="477025"/>
          </a:xfrm>
        </p:grpSpPr>
        <p:sp>
          <p:nvSpPr>
            <p:cNvPr id="5" name="Freeform 5"/>
            <p:cNvSpPr/>
            <p:nvPr/>
          </p:nvSpPr>
          <p:spPr>
            <a:xfrm>
              <a:off x="0" y="0"/>
              <a:ext cx="4309872" cy="477012"/>
            </a:xfrm>
            <a:custGeom>
              <a:avLst/>
              <a:gdLst/>
              <a:ahLst/>
              <a:cxnLst/>
              <a:rect l="l" t="t" r="r" b="b"/>
              <a:pathLst>
                <a:path w="4309872" h="477012">
                  <a:moveTo>
                    <a:pt x="0" y="126111"/>
                  </a:moveTo>
                  <a:cubicBezTo>
                    <a:pt x="0" y="56515"/>
                    <a:pt x="56515" y="0"/>
                    <a:pt x="126111" y="0"/>
                  </a:cubicBezTo>
                  <a:lnTo>
                    <a:pt x="4183761" y="0"/>
                  </a:lnTo>
                  <a:cubicBezTo>
                    <a:pt x="4253484" y="0"/>
                    <a:pt x="4309872" y="56515"/>
                    <a:pt x="4309872" y="126111"/>
                  </a:cubicBezTo>
                  <a:lnTo>
                    <a:pt x="4309872" y="350901"/>
                  </a:lnTo>
                  <a:cubicBezTo>
                    <a:pt x="4309872" y="420624"/>
                    <a:pt x="4253357" y="477012"/>
                    <a:pt x="4183761" y="477012"/>
                  </a:cubicBezTo>
                  <a:lnTo>
                    <a:pt x="126111" y="477012"/>
                  </a:lnTo>
                  <a:cubicBezTo>
                    <a:pt x="56515" y="477012"/>
                    <a:pt x="0" y="420497"/>
                    <a:pt x="0" y="350901"/>
                  </a:cubicBezTo>
                  <a:close/>
                </a:path>
              </a:pathLst>
            </a:custGeom>
            <a:blipFill>
              <a:blip r:embed="rId1">
                <a:alphaModFix amt="0"/>
              </a:blip>
              <a:stretch>
                <a:fillRect t="-126051" r="-1" b="-126054"/>
              </a:stretch>
            </a:blipFill>
            <a:ln w="9532" cap="sq">
              <a:solidFill>
                <a:srgbClr val="3D7BFF"/>
              </a:solidFill>
              <a:prstDash val="solid"/>
              <a:miter/>
            </a:ln>
          </p:spPr>
        </p:sp>
      </p:grpSp>
      <p:sp>
        <p:nvSpPr>
          <p:cNvPr id="6" name="TextBox 6"/>
          <p:cNvSpPr txBox="1"/>
          <p:nvPr/>
        </p:nvSpPr>
        <p:spPr>
          <a:xfrm>
            <a:off x="883072" y="801176"/>
            <a:ext cx="3099346" cy="267699"/>
          </a:xfrm>
          <a:prstGeom prst="rect">
            <a:avLst/>
          </a:prstGeom>
        </p:spPr>
        <p:txBody>
          <a:bodyPr lIns="0" tIns="0" rIns="0" bIns="0" rtlCol="0" anchor="t">
            <a:spAutoFit/>
          </a:bodyPr>
          <a:lstStyle/>
          <a:p>
            <a:pPr algn="l">
              <a:lnSpc>
                <a:spcPts val="1990"/>
              </a:lnSpc>
            </a:pPr>
            <a:r>
              <a:rPr lang="en-US" sz="1725" spc="103">
                <a:solidFill>
                  <a:srgbClr val="3D7BFF"/>
                </a:solidFill>
                <a:latin typeface="Arimo" panose="020B0604020202020204"/>
                <a:ea typeface="Arimo" panose="020B0604020202020204"/>
                <a:cs typeface="Arimo" panose="020B0604020202020204"/>
                <a:sym typeface="Arimo" panose="020B0604020202020204"/>
              </a:rPr>
              <a:t>TRA CỨU &amp; XUẤT DỮ LIỆU</a:t>
            </a:r>
            <a:endParaRPr lang="en-US" sz="1725" spc="103">
              <a:solidFill>
                <a:srgbClr val="3D7BFF"/>
              </a:solidFill>
              <a:latin typeface="Arimo" panose="020B0604020202020204"/>
              <a:ea typeface="Arimo" panose="020B0604020202020204"/>
              <a:cs typeface="Arimo" panose="020B0604020202020204"/>
              <a:sym typeface="Arimo" panose="020B0604020202020204"/>
            </a:endParaRPr>
          </a:p>
        </p:txBody>
      </p:sp>
      <p:sp>
        <p:nvSpPr>
          <p:cNvPr id="7" name="TextBox 7"/>
          <p:cNvSpPr txBox="1"/>
          <p:nvPr/>
        </p:nvSpPr>
        <p:spPr>
          <a:xfrm>
            <a:off x="762635" y="1563370"/>
            <a:ext cx="9420860" cy="665480"/>
          </a:xfrm>
          <a:prstGeom prst="rect">
            <a:avLst/>
          </a:prstGeom>
        </p:spPr>
        <p:txBody>
          <a:bodyPr wrap="square" lIns="0" tIns="0" rIns="0" bIns="0" rtlCol="0" anchor="t">
            <a:spAutoFit/>
          </a:bodyPr>
          <a:lstStyle/>
          <a:p>
            <a:pPr algn="l">
              <a:lnSpc>
                <a:spcPts val="5190"/>
              </a:lnSpc>
            </a:pPr>
            <a:r>
              <a:rPr lang="en-US" sz="4805" b="1" spc="-96">
                <a:solidFill>
                  <a:srgbClr val="FFFFFF"/>
                </a:solidFill>
                <a:latin typeface="Arimo Bold" panose="020B0704020202020204"/>
                <a:ea typeface="Arimo Bold" panose="020B0704020202020204"/>
                <a:cs typeface="Arimo Bold" panose="020B0704020202020204"/>
                <a:sym typeface="Arimo Bold" panose="020B0704020202020204"/>
              </a:rPr>
              <a:t>Tổng quan, lịch sử và báo cáo</a:t>
            </a:r>
            <a:endParaRPr lang="en-US" sz="4805" b="1" spc="-96">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8" name="Group 8"/>
          <p:cNvGrpSpPr/>
          <p:nvPr/>
        </p:nvGrpSpPr>
        <p:grpSpPr>
          <a:xfrm rot="0">
            <a:off x="762581" y="3676098"/>
            <a:ext cx="171583" cy="446084"/>
            <a:chOff x="0" y="0"/>
            <a:chExt cx="228778" cy="594779"/>
          </a:xfrm>
        </p:grpSpPr>
        <p:sp>
          <p:nvSpPr>
            <p:cNvPr id="9" name="Freeform 9"/>
            <p:cNvSpPr/>
            <p:nvPr/>
          </p:nvSpPr>
          <p:spPr>
            <a:xfrm>
              <a:off x="0" y="0"/>
              <a:ext cx="228727" cy="594741"/>
            </a:xfrm>
            <a:custGeom>
              <a:avLst/>
              <a:gdLst/>
              <a:ahLst/>
              <a:cxnLst/>
              <a:rect l="l" t="t" r="r" b="b"/>
              <a:pathLst>
                <a:path w="228727" h="594741">
                  <a:moveTo>
                    <a:pt x="0" y="0"/>
                  </a:moveTo>
                  <a:lnTo>
                    <a:pt x="228727" y="0"/>
                  </a:lnTo>
                  <a:lnTo>
                    <a:pt x="228727" y="594741"/>
                  </a:lnTo>
                  <a:lnTo>
                    <a:pt x="0" y="594741"/>
                  </a:lnTo>
                  <a:close/>
                </a:path>
              </a:pathLst>
            </a:custGeom>
            <a:solidFill>
              <a:srgbClr val="3D7BFF"/>
            </a:solidFill>
          </p:spPr>
        </p:sp>
      </p:grpSp>
      <p:sp>
        <p:nvSpPr>
          <p:cNvPr id="10" name="TextBox 10"/>
          <p:cNvSpPr txBox="1"/>
          <p:nvPr/>
        </p:nvSpPr>
        <p:spPr>
          <a:xfrm>
            <a:off x="1315441" y="3628473"/>
            <a:ext cx="16223818" cy="493709"/>
          </a:xfrm>
          <a:prstGeom prst="rect">
            <a:avLst/>
          </a:prstGeom>
        </p:spPr>
        <p:txBody>
          <a:bodyPr lIns="0" tIns="0" rIns="0" bIns="0" rtlCol="0" anchor="t">
            <a:spAutoFit/>
          </a:bodyPr>
          <a:lstStyle/>
          <a:p>
            <a:pPr algn="l">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Lịch sử giao dịch minh bạch, dễ tra cứu</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1" name="Group 11"/>
          <p:cNvGrpSpPr/>
          <p:nvPr/>
        </p:nvGrpSpPr>
        <p:grpSpPr>
          <a:xfrm rot="0">
            <a:off x="762581" y="4808372"/>
            <a:ext cx="171583" cy="446084"/>
            <a:chOff x="0" y="0"/>
            <a:chExt cx="228778" cy="594779"/>
          </a:xfrm>
        </p:grpSpPr>
        <p:sp>
          <p:nvSpPr>
            <p:cNvPr id="12" name="Freeform 12"/>
            <p:cNvSpPr/>
            <p:nvPr/>
          </p:nvSpPr>
          <p:spPr>
            <a:xfrm>
              <a:off x="0" y="0"/>
              <a:ext cx="228727" cy="594741"/>
            </a:xfrm>
            <a:custGeom>
              <a:avLst/>
              <a:gdLst/>
              <a:ahLst/>
              <a:cxnLst/>
              <a:rect l="l" t="t" r="r" b="b"/>
              <a:pathLst>
                <a:path w="228727" h="594741">
                  <a:moveTo>
                    <a:pt x="0" y="0"/>
                  </a:moveTo>
                  <a:lnTo>
                    <a:pt x="228727" y="0"/>
                  </a:lnTo>
                  <a:lnTo>
                    <a:pt x="228727" y="594741"/>
                  </a:lnTo>
                  <a:lnTo>
                    <a:pt x="0" y="594741"/>
                  </a:lnTo>
                  <a:close/>
                </a:path>
              </a:pathLst>
            </a:custGeom>
            <a:solidFill>
              <a:srgbClr val="3D7BFF"/>
            </a:solidFill>
          </p:spPr>
        </p:sp>
      </p:grpSp>
      <p:sp>
        <p:nvSpPr>
          <p:cNvPr id="13" name="TextBox 13"/>
          <p:cNvSpPr txBox="1"/>
          <p:nvPr/>
        </p:nvSpPr>
        <p:spPr>
          <a:xfrm>
            <a:off x="1315441" y="4760747"/>
            <a:ext cx="16223818" cy="493709"/>
          </a:xfrm>
          <a:prstGeom prst="rect">
            <a:avLst/>
          </a:prstGeom>
        </p:spPr>
        <p:txBody>
          <a:bodyPr lIns="0" tIns="0" rIns="0" bIns="0" rtlCol="0" anchor="t">
            <a:spAutoFit/>
          </a:bodyPr>
          <a:lstStyle/>
          <a:p>
            <a:pPr algn="l">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Xem tổng quan công nợ nhanh chóng</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p:nvPr/>
        </p:nvGrpSpPr>
        <p:grpSpPr>
          <a:xfrm rot="0">
            <a:off x="762581" y="5940647"/>
            <a:ext cx="171583" cy="446084"/>
            <a:chOff x="0" y="0"/>
            <a:chExt cx="228778" cy="594779"/>
          </a:xfrm>
        </p:grpSpPr>
        <p:sp>
          <p:nvSpPr>
            <p:cNvPr id="15" name="Freeform 15"/>
            <p:cNvSpPr/>
            <p:nvPr/>
          </p:nvSpPr>
          <p:spPr>
            <a:xfrm>
              <a:off x="0" y="0"/>
              <a:ext cx="228727" cy="594741"/>
            </a:xfrm>
            <a:custGeom>
              <a:avLst/>
              <a:gdLst/>
              <a:ahLst/>
              <a:cxnLst/>
              <a:rect l="l" t="t" r="r" b="b"/>
              <a:pathLst>
                <a:path w="228727" h="594741">
                  <a:moveTo>
                    <a:pt x="0" y="0"/>
                  </a:moveTo>
                  <a:lnTo>
                    <a:pt x="228727" y="0"/>
                  </a:lnTo>
                  <a:lnTo>
                    <a:pt x="228727" y="594741"/>
                  </a:lnTo>
                  <a:lnTo>
                    <a:pt x="0" y="594741"/>
                  </a:lnTo>
                  <a:close/>
                </a:path>
              </a:pathLst>
            </a:custGeom>
            <a:solidFill>
              <a:srgbClr val="3D7BFF"/>
            </a:solidFill>
          </p:spPr>
        </p:sp>
      </p:grpSp>
      <p:sp>
        <p:nvSpPr>
          <p:cNvPr id="16" name="TextBox 16"/>
          <p:cNvSpPr txBox="1"/>
          <p:nvPr/>
        </p:nvSpPr>
        <p:spPr>
          <a:xfrm>
            <a:off x="1315441" y="5893022"/>
            <a:ext cx="16223818" cy="493709"/>
          </a:xfrm>
          <a:prstGeom prst="rect">
            <a:avLst/>
          </a:prstGeom>
        </p:spPr>
        <p:txBody>
          <a:bodyPr lIns="0" tIns="0" rIns="0" bIns="0" rtlCol="0" anchor="t">
            <a:spAutoFit/>
          </a:bodyPr>
          <a:lstStyle/>
          <a:p>
            <a:pPr algn="l">
              <a:lnSpc>
                <a:spcPts val="3500"/>
              </a:lnSpc>
            </a:pPr>
            <a:r>
              <a:rPr lang="en-US" sz="2700">
                <a:solidFill>
                  <a:srgbClr val="FFFFFF"/>
                </a:solidFill>
                <a:latin typeface="Arimo" panose="020B0604020202020204"/>
                <a:ea typeface="Arimo" panose="020B0604020202020204"/>
                <a:cs typeface="Arimo" panose="020B0604020202020204"/>
                <a:sym typeface="Arimo" panose="020B0604020202020204"/>
              </a:rPr>
              <a:t>Xuất báo cáo Excel/CSV tiện lợi</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1101866" y="852695"/>
            <a:ext cx="7186134" cy="9434305"/>
          </a:xfrm>
          <a:custGeom>
            <a:avLst/>
            <a:gdLst/>
            <a:ahLst/>
            <a:cxnLst/>
            <a:rect l="l" t="t" r="r" b="b"/>
            <a:pathLst>
              <a:path w="7186134" h="9434305">
                <a:moveTo>
                  <a:pt x="0" y="0"/>
                </a:moveTo>
                <a:lnTo>
                  <a:pt x="7186134" y="0"/>
                </a:lnTo>
                <a:lnTo>
                  <a:pt x="7186134" y="9434305"/>
                </a:lnTo>
                <a:lnTo>
                  <a:pt x="0" y="9434305"/>
                </a:lnTo>
                <a:lnTo>
                  <a:pt x="0" y="0"/>
                </a:lnTo>
                <a:close/>
              </a:path>
            </a:pathLst>
          </a:custGeom>
          <a:blipFill>
            <a:blip r:embed="rId2"/>
            <a:stretch>
              <a:fillRect/>
            </a:stretch>
          </a:blipFill>
        </p:spPr>
      </p:sp>
      <p:sp>
        <p:nvSpPr>
          <p:cNvPr id="4" name="Freeform 4"/>
          <p:cNvSpPr/>
          <p:nvPr/>
        </p:nvSpPr>
        <p:spPr>
          <a:xfrm>
            <a:off x="13716000" y="4285339"/>
            <a:ext cx="4572000" cy="6001661"/>
          </a:xfrm>
          <a:custGeom>
            <a:avLst/>
            <a:gdLst/>
            <a:ahLst/>
            <a:cxnLst/>
            <a:rect l="l" t="t" r="r" b="b"/>
            <a:pathLst>
              <a:path w="4572000" h="6001661">
                <a:moveTo>
                  <a:pt x="0" y="0"/>
                </a:moveTo>
                <a:lnTo>
                  <a:pt x="4572000" y="0"/>
                </a:lnTo>
                <a:lnTo>
                  <a:pt x="4572000" y="6001661"/>
                </a:lnTo>
                <a:lnTo>
                  <a:pt x="0" y="6001661"/>
                </a:lnTo>
                <a:lnTo>
                  <a:pt x="0" y="0"/>
                </a:lnTo>
                <a:close/>
              </a:path>
            </a:pathLst>
          </a:custGeom>
          <a:blipFill>
            <a:blip r:embed="rId3"/>
            <a:stretch>
              <a:fillRect/>
            </a:stretch>
          </a:blipFill>
        </p:spPr>
      </p:sp>
      <p:sp>
        <p:nvSpPr>
          <p:cNvPr id="5" name="TextBox 5"/>
          <p:cNvSpPr txBox="1"/>
          <p:nvPr/>
        </p:nvSpPr>
        <p:spPr>
          <a:xfrm>
            <a:off x="1169301" y="2422545"/>
            <a:ext cx="3509614" cy="590456"/>
          </a:xfrm>
          <a:prstGeom prst="rect">
            <a:avLst/>
          </a:prstGeom>
        </p:spPr>
        <p:txBody>
          <a:bodyPr lIns="0" tIns="0" rIns="0" bIns="0" rtlCol="0" anchor="t">
            <a:spAutoFit/>
          </a:bodyPr>
          <a:lstStyle/>
          <a:p>
            <a:pPr algn="l">
              <a:lnSpc>
                <a:spcPts val="4455"/>
              </a:lnSpc>
            </a:pPr>
            <a:r>
              <a:rPr lang="en-US" sz="3715" b="1" spc="184">
                <a:solidFill>
                  <a:srgbClr val="F15F50"/>
                </a:solidFill>
                <a:latin typeface="Arimo Bold" panose="020B0704020202020204"/>
                <a:ea typeface="Arimo Bold" panose="020B0704020202020204"/>
                <a:cs typeface="Arimo Bold" panose="020B0704020202020204"/>
                <a:sym typeface="Arimo Bold" panose="020B0704020202020204"/>
              </a:rPr>
              <a:t>BILL MASTER</a:t>
            </a:r>
            <a:endParaRPr lang="en-US" sz="3715" b="1" spc="184">
              <a:solidFill>
                <a:srgbClr val="F15F50"/>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69301" y="3279701"/>
            <a:ext cx="9794452" cy="2398203"/>
          </a:xfrm>
          <a:prstGeom prst="rect">
            <a:avLst/>
          </a:prstGeom>
        </p:spPr>
        <p:txBody>
          <a:bodyPr lIns="0" tIns="0" rIns="0" bIns="0" rtlCol="0" anchor="t">
            <a:spAutoFit/>
          </a:bodyPr>
          <a:lstStyle/>
          <a:p>
            <a:pPr algn="l">
              <a:lnSpc>
                <a:spcPts val="17540"/>
              </a:lnSpc>
            </a:pPr>
            <a:r>
              <a:rPr lang="en-US" sz="17540" b="1" spc="522">
                <a:solidFill>
                  <a:srgbClr val="FAFAFA"/>
                </a:solidFill>
                <a:latin typeface="Arimo Bold" panose="020B0704020202020204"/>
                <a:ea typeface="Arimo Bold" panose="020B0704020202020204"/>
                <a:cs typeface="Arimo Bold" panose="020B0704020202020204"/>
                <a:sym typeface="Arimo Bold" panose="020B0704020202020204"/>
              </a:rPr>
              <a:t>Cảm ơn!</a:t>
            </a:r>
            <a:endParaRPr lang="en-US" sz="17540" b="1" spc="522">
              <a:solidFill>
                <a:srgbClr val="FAFAFA"/>
              </a:solidFill>
              <a:latin typeface="Arimo Bold" panose="020B0704020202020204"/>
              <a:ea typeface="Arimo Bold" panose="020B0704020202020204"/>
              <a:cs typeface="Arimo Bold" panose="020B0704020202020204"/>
              <a:sym typeface="Arimo Bold" panose="020B0704020202020204"/>
            </a:endParaRPr>
          </a:p>
        </p:txBody>
      </p:sp>
      <p:sp>
        <p:nvSpPr>
          <p:cNvPr id="7" name="Freeform 7"/>
          <p:cNvSpPr/>
          <p:nvPr/>
        </p:nvSpPr>
        <p:spPr>
          <a:xfrm>
            <a:off x="1028700" y="5677903"/>
            <a:ext cx="4801694" cy="437279"/>
          </a:xfrm>
          <a:custGeom>
            <a:avLst/>
            <a:gdLst/>
            <a:ahLst/>
            <a:cxnLst/>
            <a:rect l="l" t="t" r="r" b="b"/>
            <a:pathLst>
              <a:path w="4801694" h="437279">
                <a:moveTo>
                  <a:pt x="0" y="0"/>
                </a:moveTo>
                <a:lnTo>
                  <a:pt x="4801694" y="0"/>
                </a:lnTo>
                <a:lnTo>
                  <a:pt x="4801694" y="437280"/>
                </a:lnTo>
                <a:lnTo>
                  <a:pt x="0" y="437280"/>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1906</Words>
  <Application>WPS Presentation</Application>
  <PresentationFormat>On-screen Show (4:3)</PresentationFormat>
  <Paragraphs>130</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Arimo</vt:lpstr>
      <vt:lpstr>Arimo Bold</vt:lpstr>
      <vt:lpstr>Noto Sans Bold</vt:lpstr>
      <vt:lpstr>Arial</vt:lpstr>
      <vt:lpstr>Lato Heavy</vt:lpstr>
      <vt:lpstr>Noto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 Master</dc:title>
  <dc:creator/>
  <cp:lastModifiedBy>phu trieu</cp:lastModifiedBy>
  <cp:revision>6</cp:revision>
  <dcterms:created xsi:type="dcterms:W3CDTF">2006-08-16T00:00:00Z</dcterms:created>
  <dcterms:modified xsi:type="dcterms:W3CDTF">2026-10-06T07:37:14Z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7D59C49950424C8082B59ABFC5CD2566_12</vt:lpwstr>
  </property>
  <property fmtid="{D5CDD505-2E9C-101B-9397-08002B2CF9AE}" pid="3" name="KSOProductBuildVer">
    <vt:lpwstr>1033-12.1.0.28485</vt:lpwstr>
  </property>
</Properties>
</file>